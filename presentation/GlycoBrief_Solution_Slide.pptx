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olution" id="{e2fb93dc-6afe-eab7-5b15-bf753942dfa3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answers one problem from the previous slide, and the right column names the feature you will show in the demo.
Sources: 72% medication-list discrepancy - Swedish point-prevalence study of 405 patients, Drugs &amp; Therapy Perspectives, 2022. About 2 minutes - Irving et al., BMJ Open 2017 (67 countries). HbA1c every 3-6 months - ADA: at least twice a year at goal, quarterly if not. 101 million - ICMR-INDIAB-17, The Lancet Diabetes &amp; Endocrinology, 2023.
'What's next' items are not built yet; say so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Our Solution: GlycoBrief</a:t>
            </a:r>
            <a:endParaRPr lang="en-US" sz="3600" dirty="0"/>
          </a:p>
        </p:txBody>
      </p:sp>
      <p:sp>
        <p:nvSpPr>
          <p:cNvPr id="3" name="Tagline"/>
          <p:cNvSpPr txBox="1"/>
          <p:nvPr/>
        </p:nvSpPr>
        <p:spPr>
          <a:xfrm>
            <a:off x="457200" y="8961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Every diabetes patient, verified and ready before the consult</a:t>
            </a:r>
            <a:endParaRPr lang="en-US" sz="1600" dirty="0"/>
          </a:p>
        </p:txBody>
      </p:sp>
      <p:sp>
        <p:nvSpPr>
          <p:cNvPr id="4" name="Header problem"/>
          <p:cNvSpPr txBox="1"/>
          <p:nvPr/>
        </p:nvSpPr>
        <p:spPr>
          <a:xfrm>
            <a:off x="457200" y="1325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2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Header solution"/>
          <p:cNvSpPr txBox="1"/>
          <p:nvPr/>
        </p:nvSpPr>
        <p:spPr>
          <a:xfrm>
            <a:off x="4572000" y="13258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2"/>
                </a:solidFill>
              </a:rPr>
              <a:t>OUR SOLUTION</a:t>
            </a:r>
            <a:endParaRPr lang="en-US" sz="1100" dirty="0"/>
          </a:p>
        </p:txBody>
      </p:sp>
      <p:sp>
        <p:nvSpPr>
          <p:cNvPr id="6" name="Header proof"/>
          <p:cNvSpPr txBox="1"/>
          <p:nvPr/>
        </p:nvSpPr>
        <p:spPr>
          <a:xfrm>
            <a:off x="9464040" y="132588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2"/>
                </a:solidFill>
              </a:rPr>
              <a:t>PROOF IN THE MVP</a:t>
            </a:r>
            <a:endParaRPr lang="en-US" sz="1100" dirty="0"/>
          </a:p>
        </p:txBody>
      </p:sp>
      <p:sp>
        <p:nvSpPr>
          <p:cNvPr id="7" name="Problem card 1"/>
          <p:cNvSpPr/>
          <p:nvPr/>
        </p:nvSpPr>
        <p:spPr>
          <a:xfrm>
            <a:off x="457200" y="1627632"/>
            <a:ext cx="3566160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Problem icon circle 1"/>
          <p:cNvSpPr/>
          <p:nvPr/>
        </p:nvSpPr>
        <p:spPr>
          <a:xfrm>
            <a:off x="621792" y="1819656"/>
            <a:ext cx="512064" cy="51206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9" name="Problem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47672"/>
            <a:ext cx="256032" cy="256032"/>
          </a:xfrm>
          <a:prstGeom prst="rect">
            <a:avLst/>
          </a:prstGeom>
        </p:spPr>
      </p:pic>
      <p:sp>
        <p:nvSpPr>
          <p:cNvPr id="10" name="Problem text 1"/>
          <p:cNvSpPr txBox="1"/>
          <p:nvPr/>
        </p:nvSpPr>
        <p:spPr>
          <a:xfrm>
            <a:off x="1280160" y="1700784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Conflicting, unverified records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72% of patients had a medication-list error</a:t>
            </a:r>
            <a:endParaRPr lang="en-US" sz="1500" dirty="0"/>
          </a:p>
        </p:txBody>
      </p:sp>
      <p:pic>
        <p:nvPicPr>
          <p:cNvPr id="11" name="Arrow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088" y="1911096"/>
            <a:ext cx="329184" cy="329184"/>
          </a:xfrm>
          <a:prstGeom prst="rect">
            <a:avLst/>
          </a:prstGeom>
        </p:spPr>
      </p:pic>
      <p:sp>
        <p:nvSpPr>
          <p:cNvPr id="12" name="Solution card 1"/>
          <p:cNvSpPr/>
          <p:nvPr/>
        </p:nvSpPr>
        <p:spPr>
          <a:xfrm>
            <a:off x="4572000" y="1627632"/>
            <a:ext cx="4754880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Solution text 1"/>
          <p:cNvSpPr txBox="1"/>
          <p:nvPr/>
        </p:nvSpPr>
        <p:spPr>
          <a:xfrm>
            <a:off x="4800600" y="1700784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clinical team verifies every report; each value is locked to its source document and reviewer</a:t>
            </a:r>
            <a:endParaRPr lang="en-US" sz="1500" dirty="0"/>
          </a:p>
        </p:txBody>
      </p:sp>
      <p:sp>
        <p:nvSpPr>
          <p:cNvPr id="14" name="Proof pill 1"/>
          <p:cNvSpPr/>
          <p:nvPr/>
        </p:nvSpPr>
        <p:spPr>
          <a:xfrm>
            <a:off x="9464040" y="1627632"/>
            <a:ext cx="2267712" cy="896112"/>
          </a:xfrm>
          <a:prstGeom prst="roundRect">
            <a:avLst>
              <a:gd name="adj" fmla="val 816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Proof text 1"/>
          <p:cNvSpPr txBox="1"/>
          <p:nvPr/>
        </p:nvSpPr>
        <p:spPr>
          <a:xfrm>
            <a:off x="9601200" y="1700784"/>
            <a:ext cx="1993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Source-locked values</a:t>
            </a:r>
            <a:endParaRPr lang="en-US" sz="1400" dirty="0"/>
          </a:p>
        </p:txBody>
      </p:sp>
      <p:sp>
        <p:nvSpPr>
          <p:cNvPr id="16" name="Problem card 2"/>
          <p:cNvSpPr/>
          <p:nvPr/>
        </p:nvSpPr>
        <p:spPr>
          <a:xfrm>
            <a:off x="457200" y="2633472"/>
            <a:ext cx="3566160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Problem icon circle 2"/>
          <p:cNvSpPr/>
          <p:nvPr/>
        </p:nvSpPr>
        <p:spPr>
          <a:xfrm>
            <a:off x="621792" y="2825496"/>
            <a:ext cx="512064" cy="51206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8" name="Problem 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953512"/>
            <a:ext cx="256032" cy="256032"/>
          </a:xfrm>
          <a:prstGeom prst="rect">
            <a:avLst/>
          </a:prstGeom>
        </p:spPr>
      </p:pic>
      <p:sp>
        <p:nvSpPr>
          <p:cNvPr id="19" name="Problem text 2"/>
          <p:cNvSpPr txBox="1"/>
          <p:nvPr/>
        </p:nvSpPr>
        <p:spPr>
          <a:xfrm>
            <a:off x="1280160" y="2706624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Manual chart reconstruction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About 2-minute consultations in India</a:t>
            </a:r>
            <a:endParaRPr lang="en-US" sz="1500" dirty="0"/>
          </a:p>
        </p:txBody>
      </p:sp>
      <p:pic>
        <p:nvPicPr>
          <p:cNvPr id="20" name="Arrow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88" y="2916936"/>
            <a:ext cx="329184" cy="329184"/>
          </a:xfrm>
          <a:prstGeom prst="rect">
            <a:avLst/>
          </a:prstGeom>
        </p:spPr>
      </p:pic>
      <p:sp>
        <p:nvSpPr>
          <p:cNvPr id="21" name="Solution card 2"/>
          <p:cNvSpPr/>
          <p:nvPr/>
        </p:nvSpPr>
        <p:spPr>
          <a:xfrm>
            <a:off x="4572000" y="2633472"/>
            <a:ext cx="4754880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Solution text 2"/>
          <p:cNvSpPr txBox="1"/>
          <p:nvPr/>
        </p:nvSpPr>
        <p:spPr>
          <a:xfrm>
            <a:off x="4800600" y="2706624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one-page verified brief reaches the doctor before the patient walks in</a:t>
            </a:r>
            <a:endParaRPr lang="en-US" sz="1500" dirty="0"/>
          </a:p>
        </p:txBody>
      </p:sp>
      <p:sp>
        <p:nvSpPr>
          <p:cNvPr id="23" name="Proof pill 2"/>
          <p:cNvSpPr/>
          <p:nvPr/>
        </p:nvSpPr>
        <p:spPr>
          <a:xfrm>
            <a:off x="9464040" y="2633472"/>
            <a:ext cx="2267712" cy="896112"/>
          </a:xfrm>
          <a:prstGeom prst="roundRect">
            <a:avLst>
              <a:gd name="adj" fmla="val 816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Proof text 2"/>
          <p:cNvSpPr txBox="1"/>
          <p:nvPr/>
        </p:nvSpPr>
        <p:spPr>
          <a:xfrm>
            <a:off x="9601200" y="2706624"/>
            <a:ext cx="1993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Consultation Brief</a:t>
            </a:r>
            <a:endParaRPr lang="en-US" sz="1400" dirty="0"/>
          </a:p>
        </p:txBody>
      </p:sp>
      <p:sp>
        <p:nvSpPr>
          <p:cNvPr id="25" name="Problem card 3"/>
          <p:cNvSpPr/>
          <p:nvPr/>
        </p:nvSpPr>
        <p:spPr>
          <a:xfrm>
            <a:off x="457200" y="3639312"/>
            <a:ext cx="3566160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Problem icon circle 3"/>
          <p:cNvSpPr/>
          <p:nvPr/>
        </p:nvSpPr>
        <p:spPr>
          <a:xfrm>
            <a:off x="621792" y="3831336"/>
            <a:ext cx="512064" cy="51206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7" name="Problem icon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959352"/>
            <a:ext cx="256032" cy="256032"/>
          </a:xfrm>
          <a:prstGeom prst="rect">
            <a:avLst/>
          </a:prstGeom>
        </p:spPr>
      </p:pic>
      <p:sp>
        <p:nvSpPr>
          <p:cNvPr id="28" name="Problem text 3"/>
          <p:cNvSpPr txBox="1"/>
          <p:nvPr/>
        </p:nvSpPr>
        <p:spPr>
          <a:xfrm>
            <a:off x="1280160" y="3712464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Deterioration nobody notices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3 to 6 months between HbA1c checks</a:t>
            </a:r>
            <a:endParaRPr lang="en-US" sz="1500" dirty="0"/>
          </a:p>
        </p:txBody>
      </p:sp>
      <p:pic>
        <p:nvPicPr>
          <p:cNvPr id="29" name="Arrow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3088" y="3922776"/>
            <a:ext cx="329184" cy="329184"/>
          </a:xfrm>
          <a:prstGeom prst="rect">
            <a:avLst/>
          </a:prstGeom>
        </p:spPr>
      </p:pic>
      <p:sp>
        <p:nvSpPr>
          <p:cNvPr id="30" name="Solution card 3"/>
          <p:cNvSpPr/>
          <p:nvPr/>
        </p:nvSpPr>
        <p:spPr>
          <a:xfrm>
            <a:off x="4572000" y="3639312"/>
            <a:ext cx="4754880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Solution text 3"/>
          <p:cNvSpPr txBox="1"/>
          <p:nvPr/>
        </p:nvSpPr>
        <p:spPr>
          <a:xfrm>
            <a:off x="4800600" y="3712464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Seven rule checks raise an early, explained “quietly getting worse” flag between visits</a:t>
            </a:r>
            <a:endParaRPr lang="en-US" sz="1500" dirty="0"/>
          </a:p>
        </p:txBody>
      </p:sp>
      <p:sp>
        <p:nvSpPr>
          <p:cNvPr id="32" name="Proof pill 3"/>
          <p:cNvSpPr/>
          <p:nvPr/>
        </p:nvSpPr>
        <p:spPr>
          <a:xfrm>
            <a:off x="9464040" y="3639312"/>
            <a:ext cx="2267712" cy="896112"/>
          </a:xfrm>
          <a:prstGeom prst="roundRect">
            <a:avLst>
              <a:gd name="adj" fmla="val 816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Proof text 3"/>
          <p:cNvSpPr txBox="1"/>
          <p:nvPr/>
        </p:nvSpPr>
        <p:spPr>
          <a:xfrm>
            <a:off x="9601200" y="3712464"/>
            <a:ext cx="1993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Silent Risk Detector</a:t>
            </a:r>
            <a:endParaRPr lang="en-US" sz="1400" dirty="0"/>
          </a:p>
        </p:txBody>
      </p:sp>
      <p:sp>
        <p:nvSpPr>
          <p:cNvPr id="34" name="Problem card 4"/>
          <p:cNvSpPr/>
          <p:nvPr/>
        </p:nvSpPr>
        <p:spPr>
          <a:xfrm>
            <a:off x="457200" y="4645152"/>
            <a:ext cx="3566160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5" name="Problem icon circle 4"/>
          <p:cNvSpPr/>
          <p:nvPr/>
        </p:nvSpPr>
        <p:spPr>
          <a:xfrm>
            <a:off x="621792" y="4837176"/>
            <a:ext cx="512064" cy="51206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6" name="Problem icon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4965192"/>
            <a:ext cx="256032" cy="256032"/>
          </a:xfrm>
          <a:prstGeom prst="rect">
            <a:avLst/>
          </a:prstGeom>
        </p:spPr>
      </p:pic>
      <p:sp>
        <p:nvSpPr>
          <p:cNvPr id="37" name="Problem text 4"/>
          <p:cNvSpPr txBox="1"/>
          <p:nvPr/>
        </p:nvSpPr>
        <p:spPr>
          <a:xfrm>
            <a:off x="1280160" y="4718304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Too many patients to track alone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101 million Indians live with diabetes</a:t>
            </a:r>
            <a:endParaRPr lang="en-US" sz="1500" dirty="0"/>
          </a:p>
        </p:txBody>
      </p:sp>
      <p:pic>
        <p:nvPicPr>
          <p:cNvPr id="38" name="Arrow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33088" y="4928616"/>
            <a:ext cx="329184" cy="329184"/>
          </a:xfrm>
          <a:prstGeom prst="rect">
            <a:avLst/>
          </a:prstGeom>
        </p:spPr>
      </p:pic>
      <p:sp>
        <p:nvSpPr>
          <p:cNvPr id="39" name="Solution card 4"/>
          <p:cNvSpPr/>
          <p:nvPr/>
        </p:nvSpPr>
        <p:spPr>
          <a:xfrm>
            <a:off x="4572000" y="4645152"/>
            <a:ext cx="4754880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0" name="Solution text 4"/>
          <p:cNvSpPr txBox="1"/>
          <p:nvPr/>
        </p:nvSpPr>
        <p:spPr>
          <a:xfrm>
            <a:off x="4800600" y="4718304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team orders tests before the visit, checks readiness and hands off through a doctor queue</a:t>
            </a:r>
            <a:endParaRPr lang="en-US" sz="1500" dirty="0"/>
          </a:p>
        </p:txBody>
      </p:sp>
      <p:sp>
        <p:nvSpPr>
          <p:cNvPr id="41" name="Proof pill 4"/>
          <p:cNvSpPr/>
          <p:nvPr/>
        </p:nvSpPr>
        <p:spPr>
          <a:xfrm>
            <a:off x="9464040" y="4645152"/>
            <a:ext cx="2267712" cy="896112"/>
          </a:xfrm>
          <a:prstGeom prst="roundRect">
            <a:avLst>
              <a:gd name="adj" fmla="val 816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2" name="Proof text 4"/>
          <p:cNvSpPr txBox="1"/>
          <p:nvPr/>
        </p:nvSpPr>
        <p:spPr>
          <a:xfrm>
            <a:off x="9601200" y="4718304"/>
            <a:ext cx="1993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Test Orders + Doctor Queue</a:t>
            </a:r>
            <a:endParaRPr lang="en-US" sz="1400" dirty="0"/>
          </a:p>
        </p:txBody>
      </p:sp>
      <p:sp>
        <p:nvSpPr>
          <p:cNvPr id="43" name="Footer card"/>
          <p:cNvSpPr/>
          <p:nvPr/>
        </p:nvSpPr>
        <p:spPr>
          <a:xfrm>
            <a:off x="457200" y="5669280"/>
            <a:ext cx="11274552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4" name="What's next"/>
          <p:cNvSpPr txBox="1"/>
          <p:nvPr/>
        </p:nvSpPr>
        <p:spPr>
          <a:xfrm>
            <a:off x="685800" y="5742432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2"/>
                </a:solidFill>
              </a:rPr>
              <a:t>WHAT'S NEXT 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AI report reading  ·  Real ABDM integration  ·  Learns from doctor feedback  ·  Type 1 support</a:t>
            </a:r>
            <a:endParaRPr lang="en-US" sz="1100" dirty="0"/>
          </a:p>
        </p:txBody>
      </p:sp>
      <p:sp>
        <p:nvSpPr>
          <p:cNvPr id="45" name="Built with"/>
          <p:cNvSpPr txBox="1"/>
          <p:nvPr/>
        </p:nvSpPr>
        <p:spPr>
          <a:xfrm>
            <a:off x="685800" y="6053328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2"/>
                </a:solidFill>
              </a:rPr>
              <a:t>BUILT WITH  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React  ·  FastAPI  ·  SQLite  ·  FHIR R4  ·  Simulated ABDM (ABHA consent)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ycoBrief">
  <a:themeElements>
    <a:clrScheme name="GlycoBrief">
      <a:dk1>
        <a:srgbClr val="1B2A41"/>
      </a:dk1>
      <a:lt1>
        <a:srgbClr val="FFFFFF"/>
      </a:lt1>
      <a:dk2>
        <a:srgbClr val="5B6770"/>
      </a:dk2>
      <a:lt2>
        <a:srgbClr val="F1F3F4"/>
      </a:lt2>
      <a:accent1>
        <a:srgbClr val="2A9D8F"/>
      </a:accent1>
      <a:accent2>
        <a:srgbClr val="1B2A41"/>
      </a:accent2>
      <a:accent3>
        <a:srgbClr val="D5DADF"/>
      </a:accent3>
      <a:accent4>
        <a:srgbClr val="E9F5F3"/>
      </a:accent4>
      <a:accent5>
        <a:srgbClr val="264653"/>
      </a:accent5>
      <a:accent6>
        <a:srgbClr val="8AB17D"/>
      </a:accent6>
      <a:hlink>
        <a:srgbClr val="2A9D8F"/>
      </a:hlink>
      <a:folHlink>
        <a:srgbClr val="5B6770"/>
      </a:folHlink>
    </a:clrScheme>
    <a:fontScheme name="GlycoBrief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GlycoBrief - Our Solution</dc:title>
  <dc:subject>PptxGenJS Presentation</dc:subject>
  <dc:creator>PptxGenJS</dc:creator>
  <cp:lastModifiedBy>PptxGenJS</cp:lastModifiedBy>
  <cp:revision>1</cp:revision>
  <dcterms:created xsi:type="dcterms:W3CDTF">2026-10-03T14:42:34Z</dcterms:created>
  <dcterms:modified xsi:type="dcterms:W3CDTF">2026-10-03T14:42:34Z</dcterms:modified>
</cp:coreProperties>
</file>