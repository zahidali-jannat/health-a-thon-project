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54a0dc0-980e-3900-7429-17f8471ee5d9}">
          <p14:sldIdLst>
            <p14:sldId id="256"/>
          </p14:sldIdLst>
        </p14:section>
        <p14:section name="Problem and Solution" id="{1d1f9da0-699e-aca2-4f4b-aa1e15f4854d}">
          <p14:sldIdLst>
            <p14:sldId id="257"/>
            <p14:sldId id="258"/>
          </p14:sldIdLst>
        </p14:section>
        <p14:section name="Product" id="{0eebaa39-7bb2-4845-4862-4eb5d78cec5f}">
          <p14:sldIdLst>
            <p14:sldId id="259"/>
            <p14:sldId id="260"/>
            <p14:sldId id="261"/>
            <p14:sldId id="262"/>
          </p14:sldIdLst>
        </p14:section>
        <p14:section name="Market" id="{bf37afc9-3a8a-8cea-5ee9-a94c6ce12e77}">
          <p14:sldIdLst>
            <p14:sldId id="263"/>
            <p14:sldId id="264"/>
          </p14:sldIdLst>
        </p14:section>
        <p14:section name="Close" id="{21c0bb47-5f80-3e3c-a3b9-3fbda18a1d0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GlycoBrief makes every diabetes patient verified and ready before the doctor calls them in. Three moves: verify, detect,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72% - Swedish point-prevalence study, 405 patients, Drugs &amp; Therapy Perspectives 2022 (Swedish, not Indian data). ~2 minutes - Irving et al., BMJ Open 2017. HbA1c every 3-6 months - ADA recommendations. 101M and 136M - ICMR-INDIAB-17, The Lancet Diabetes &amp; Endocrinology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answers one problem from the previous slide; the right column names the feature shown in the demo. 'What's next' items are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top to bottom: three sources, one verification step, the detector and the brief, then identity check, consult, and next tests, which start the cycle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eight are in the running prototype. Mention that every clinical threshold lives in one config file that a doctor can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across: today versus with GlycoBrief, for each of the four people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uses SQLite, not PostgreSQL. 239 is the count of pytest test functions in the backend. Notifications (e-mail, SMS, WhatsApp) are simulated and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each company's public page, read on 3 October 2026; features not described there may still exist. Sources: navina.ai/products/clinician-copilot, abridge.com, eka.care/s/for-doctors, healthplix.com, mysugr.com, BeatO App Store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are built yet. Present them as the roadmap; the guardrail on each keeps clinicians in control. Type 1 diabetes support (CGM, pump, insulin refills) is also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promise and move straight into the demo: sign in as the clinic team, prepare Ramesh's brief, then open it as Dr. Priya.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GlycoBrief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GlycoBrief</a:t>
            </a:r>
            <a:endParaRPr lang="en-US" sz="6000" dirty="0"/>
          </a:p>
        </p:txBody>
      </p:sp>
      <p:sp>
        <p:nvSpPr>
          <p:cNvPr id="3" name="Tagline"/>
          <p:cNvSpPr txBox="1"/>
          <p:nvPr/>
        </p:nvSpPr>
        <p:spPr>
          <a:xfrm>
            <a:off x="731520" y="3017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Every diabetes patient, verified and ready before the consult</a:t>
            </a:r>
            <a:endParaRPr lang="en-US" sz="2200" dirty="0"/>
          </a:p>
        </p:txBody>
      </p:sp>
      <p:sp>
        <p:nvSpPr>
          <p:cNvPr id="4" name="Track"/>
          <p:cNvSpPr txBox="1"/>
          <p:nvPr/>
        </p:nvSpPr>
        <p:spPr>
          <a:xfrm>
            <a:off x="731520" y="4023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UC2 · Consultation Readiness &amp; Patient Journey Review · Diabetes care</a:t>
            </a:r>
            <a:endParaRPr lang="en-US" sz="1400" dirty="0"/>
          </a:p>
        </p:txBody>
      </p:sp>
      <p:sp>
        <p:nvSpPr>
          <p:cNvPr id="5" name="Pillar card 1"/>
          <p:cNvSpPr/>
          <p:nvPr/>
        </p:nvSpPr>
        <p:spPr>
          <a:xfrm>
            <a:off x="7863840" y="160020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Pillar 1 circle"/>
          <p:cNvSpPr/>
          <p:nvPr/>
        </p:nvSpPr>
        <p:spPr>
          <a:xfrm>
            <a:off x="8065008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illar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68" y="1965960"/>
            <a:ext cx="274320" cy="274320"/>
          </a:xfrm>
          <a:prstGeom prst="rect">
            <a:avLst/>
          </a:prstGeom>
        </p:spPr>
      </p:pic>
      <p:sp>
        <p:nvSpPr>
          <p:cNvPr id="8" name="Pillar text 1"/>
          <p:cNvSpPr txBox="1"/>
          <p:nvPr/>
        </p:nvSpPr>
        <p:spPr>
          <a:xfrm>
            <a:off x="8778240" y="16916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report checked by the clinical team</a:t>
            </a:r>
            <a:endParaRPr lang="en-US" sz="1800" dirty="0"/>
          </a:p>
        </p:txBody>
      </p:sp>
      <p:sp>
        <p:nvSpPr>
          <p:cNvPr id="9" name="Pillar card 2"/>
          <p:cNvSpPr/>
          <p:nvPr/>
        </p:nvSpPr>
        <p:spPr>
          <a:xfrm>
            <a:off x="7863840" y="28346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Pillar 2 circle"/>
          <p:cNvSpPr/>
          <p:nvPr/>
        </p:nvSpPr>
        <p:spPr>
          <a:xfrm>
            <a:off x="8065008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Pillar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3200400"/>
            <a:ext cx="274320" cy="274320"/>
          </a:xfrm>
          <a:prstGeom prst="rect">
            <a:avLst/>
          </a:prstGeom>
        </p:spPr>
      </p:pic>
      <p:sp>
        <p:nvSpPr>
          <p:cNvPr id="12" name="Pillar text 2"/>
          <p:cNvSpPr txBox="1"/>
          <p:nvPr/>
        </p:nvSpPr>
        <p:spPr>
          <a:xfrm>
            <a:off x="8778240" y="2926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Detect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Early, explained risk warnings between visits</a:t>
            </a:r>
            <a:endParaRPr lang="en-US" sz="1800" dirty="0"/>
          </a:p>
        </p:txBody>
      </p:sp>
      <p:sp>
        <p:nvSpPr>
          <p:cNvPr id="13" name="Pillar card 3"/>
          <p:cNvSpPr/>
          <p:nvPr/>
        </p:nvSpPr>
        <p:spPr>
          <a:xfrm>
            <a:off x="7863840" y="406908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Pillar 3 circle"/>
          <p:cNvSpPr/>
          <p:nvPr/>
        </p:nvSpPr>
        <p:spPr>
          <a:xfrm>
            <a:off x="8065008" y="4297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illar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4434840"/>
            <a:ext cx="274320" cy="274320"/>
          </a:xfrm>
          <a:prstGeom prst="rect">
            <a:avLst/>
          </a:prstGeom>
        </p:spPr>
      </p:pic>
      <p:sp>
        <p:nvSpPr>
          <p:cNvPr id="16" name="Pillar text 3"/>
          <p:cNvSpPr txBox="1"/>
          <p:nvPr/>
        </p:nvSpPr>
        <p:spPr>
          <a:xfrm>
            <a:off x="8778240" y="41605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Brief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One verified page before the doctor calls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Problem: Doctors Walk In Unprepared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Scattered, unverified data meets a very short consultation</a:t>
            </a:r>
            <a:endParaRPr lang="en-US" sz="1600" dirty="0"/>
          </a:p>
        </p:txBody>
      </p:sp>
      <p:sp>
        <p:nvSpPr>
          <p:cNvPr id="4" name="Problem card 1"/>
          <p:cNvSpPr/>
          <p:nvPr/>
        </p:nvSpPr>
        <p:spPr>
          <a:xfrm>
            <a:off x="457200" y="1371600"/>
            <a:ext cx="5545836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Problem 1 circle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668780"/>
            <a:ext cx="228600" cy="228600"/>
          </a:xfrm>
          <a:prstGeom prst="rect">
            <a:avLst/>
          </a:prstGeom>
        </p:spPr>
      </p:pic>
      <p:sp>
        <p:nvSpPr>
          <p:cNvPr id="7" name="Problem title 1"/>
          <p:cNvSpPr txBox="1"/>
          <p:nvPr/>
        </p:nvSpPr>
        <p:spPr>
          <a:xfrm>
            <a:off x="1234440" y="15544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Conflicting, unverified records</a:t>
            </a:r>
            <a:endParaRPr lang="en-US" sz="1800" dirty="0"/>
          </a:p>
        </p:txBody>
      </p:sp>
      <p:sp>
        <p:nvSpPr>
          <p:cNvPr id="8" name="Problem description 1"/>
          <p:cNvSpPr txBox="1"/>
          <p:nvPr/>
        </p:nvSpPr>
        <p:spPr>
          <a:xfrm>
            <a:off x="685800" y="2084832"/>
            <a:ext cx="5088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and medicine lists arrive from different labs, pharmacies and doctors, and nothing checks them before the doctor sees them.</a:t>
            </a:r>
            <a:endParaRPr lang="en-US" sz="1400" dirty="0"/>
          </a:p>
        </p:txBody>
      </p:sp>
      <p:sp>
        <p:nvSpPr>
          <p:cNvPr id="9" name="Problem metric 1"/>
          <p:cNvSpPr txBox="1"/>
          <p:nvPr/>
        </p:nvSpPr>
        <p:spPr>
          <a:xfrm>
            <a:off x="685800" y="26517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000" dirty="0"/>
          </a:p>
        </p:txBody>
      </p:sp>
      <p:sp>
        <p:nvSpPr>
          <p:cNvPr id="10" name="Problem metric label 1"/>
          <p:cNvSpPr txBox="1"/>
          <p:nvPr/>
        </p:nvSpPr>
        <p:spPr>
          <a:xfrm>
            <a:off x="2331720" y="2651760"/>
            <a:ext cx="34427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patients had at least one medication-list error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Swedish study of 405 patients, Drugs &amp; Therapy Perspectives, 2022</a:t>
            </a:r>
            <a:endParaRPr lang="en-US" sz="1300" dirty="0"/>
          </a:p>
        </p:txBody>
      </p:sp>
      <p:sp>
        <p:nvSpPr>
          <p:cNvPr id="11" name="Problem card 2"/>
          <p:cNvSpPr/>
          <p:nvPr/>
        </p:nvSpPr>
        <p:spPr>
          <a:xfrm>
            <a:off x="6185916" y="1371600"/>
            <a:ext cx="5545836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Problem 2 circle"/>
          <p:cNvSpPr/>
          <p:nvPr/>
        </p:nvSpPr>
        <p:spPr>
          <a:xfrm>
            <a:off x="6387084" y="155448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668780"/>
            <a:ext cx="228600" cy="228600"/>
          </a:xfrm>
          <a:prstGeom prst="rect">
            <a:avLst/>
          </a:prstGeom>
        </p:spPr>
      </p:pic>
      <p:sp>
        <p:nvSpPr>
          <p:cNvPr id="14" name="Problem title 2"/>
          <p:cNvSpPr txBox="1"/>
          <p:nvPr/>
        </p:nvSpPr>
        <p:spPr>
          <a:xfrm>
            <a:off x="6963156" y="15544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Manual chart reconstruction</a:t>
            </a:r>
            <a:endParaRPr lang="en-US" sz="1800" dirty="0"/>
          </a:p>
        </p:txBody>
      </p:sp>
      <p:sp>
        <p:nvSpPr>
          <p:cNvPr id="15" name="Problem description 2"/>
          <p:cNvSpPr txBox="1"/>
          <p:nvPr/>
        </p:nvSpPr>
        <p:spPr>
          <a:xfrm>
            <a:off x="6414516" y="2084832"/>
            <a:ext cx="5088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doctor rebuilds the patient's history by hand from scattered files, inside a very short consultation.</a:t>
            </a:r>
            <a:endParaRPr lang="en-US" sz="1400" dirty="0"/>
          </a:p>
        </p:txBody>
      </p:sp>
      <p:sp>
        <p:nvSpPr>
          <p:cNvPr id="16" name="Problem metric 2"/>
          <p:cNvSpPr txBox="1"/>
          <p:nvPr/>
        </p:nvSpPr>
        <p:spPr>
          <a:xfrm>
            <a:off x="6414516" y="26517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min</a:t>
            </a:r>
            <a:endParaRPr lang="en-US" sz="3000" dirty="0"/>
          </a:p>
        </p:txBody>
      </p:sp>
      <p:sp>
        <p:nvSpPr>
          <p:cNvPr id="17" name="Problem metric label 2"/>
          <p:cNvSpPr txBox="1"/>
          <p:nvPr/>
        </p:nvSpPr>
        <p:spPr>
          <a:xfrm>
            <a:off x="8060436" y="2651760"/>
            <a:ext cx="34427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typical primary-care consultation in India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Irving et al., BMJ Open, 2017 (67 countries)</a:t>
            </a:r>
            <a:endParaRPr lang="en-US" sz="1300" dirty="0"/>
          </a:p>
        </p:txBody>
      </p:sp>
      <p:sp>
        <p:nvSpPr>
          <p:cNvPr id="18" name="Problem card 3"/>
          <p:cNvSpPr/>
          <p:nvPr/>
        </p:nvSpPr>
        <p:spPr>
          <a:xfrm>
            <a:off x="457200" y="3493008"/>
            <a:ext cx="5545836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Problem 3 circle"/>
          <p:cNvSpPr/>
          <p:nvPr/>
        </p:nvSpPr>
        <p:spPr>
          <a:xfrm>
            <a:off x="658368" y="36758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790188"/>
            <a:ext cx="228600" cy="228600"/>
          </a:xfrm>
          <a:prstGeom prst="rect">
            <a:avLst/>
          </a:prstGeom>
        </p:spPr>
      </p:pic>
      <p:sp>
        <p:nvSpPr>
          <p:cNvPr id="21" name="Problem title 3"/>
          <p:cNvSpPr txBox="1"/>
          <p:nvPr/>
        </p:nvSpPr>
        <p:spPr>
          <a:xfrm>
            <a:off x="1234440" y="3675888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Deterioration nobody notices</a:t>
            </a:r>
            <a:endParaRPr lang="en-US" sz="1800" dirty="0"/>
          </a:p>
        </p:txBody>
      </p:sp>
      <p:sp>
        <p:nvSpPr>
          <p:cNvPr id="22" name="Problem description 3"/>
          <p:cNvSpPr txBox="1"/>
          <p:nvPr/>
        </p:nvSpPr>
        <p:spPr>
          <a:xfrm>
            <a:off x="685800" y="4206240"/>
            <a:ext cx="5088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patient can stop refilling medicine or logging sugar, and nobody finds out until the next check-up.</a:t>
            </a:r>
            <a:endParaRPr lang="en-US" sz="1400" dirty="0"/>
          </a:p>
        </p:txBody>
      </p:sp>
      <p:sp>
        <p:nvSpPr>
          <p:cNvPr id="23" name="Problem metric 3"/>
          <p:cNvSpPr txBox="1"/>
          <p:nvPr/>
        </p:nvSpPr>
        <p:spPr>
          <a:xfrm>
            <a:off x="685800" y="4773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3–6 mo</a:t>
            </a:r>
            <a:endParaRPr lang="en-US" sz="3000" dirty="0"/>
          </a:p>
        </p:txBody>
      </p:sp>
      <p:sp>
        <p:nvSpPr>
          <p:cNvPr id="24" name="Problem metric label 3"/>
          <p:cNvSpPr txBox="1"/>
          <p:nvPr/>
        </p:nvSpPr>
        <p:spPr>
          <a:xfrm>
            <a:off x="2331720" y="4773168"/>
            <a:ext cx="34427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between HbA1c checks: the blind window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ADA: twice a year at goal, quarterly if not</a:t>
            </a:r>
            <a:endParaRPr lang="en-US" sz="1300" dirty="0"/>
          </a:p>
        </p:txBody>
      </p:sp>
      <p:sp>
        <p:nvSpPr>
          <p:cNvPr id="25" name="Problem card 4"/>
          <p:cNvSpPr/>
          <p:nvPr/>
        </p:nvSpPr>
        <p:spPr>
          <a:xfrm>
            <a:off x="6185916" y="3493008"/>
            <a:ext cx="5545836" cy="1938528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Problem 4 circle"/>
          <p:cNvSpPr/>
          <p:nvPr/>
        </p:nvSpPr>
        <p:spPr>
          <a:xfrm>
            <a:off x="6387084" y="36758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Proble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790188"/>
            <a:ext cx="228600" cy="228600"/>
          </a:xfrm>
          <a:prstGeom prst="rect">
            <a:avLst/>
          </a:prstGeom>
        </p:spPr>
      </p:pic>
      <p:sp>
        <p:nvSpPr>
          <p:cNvPr id="28" name="Problem title 4"/>
          <p:cNvSpPr txBox="1"/>
          <p:nvPr/>
        </p:nvSpPr>
        <p:spPr>
          <a:xfrm>
            <a:off x="6963156" y="3675888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Too many patients to track alone</a:t>
            </a:r>
            <a:endParaRPr lang="en-US" sz="1800" dirty="0"/>
          </a:p>
        </p:txBody>
      </p:sp>
      <p:sp>
        <p:nvSpPr>
          <p:cNvPr id="29" name="Problem description 4"/>
          <p:cNvSpPr txBox="1"/>
          <p:nvPr/>
        </p:nvSpPr>
        <p:spPr>
          <a:xfrm>
            <a:off x="6414516" y="4206240"/>
            <a:ext cx="5088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Follow-up needs a team, but nothing routes reports, pending tests and alerts to the doctor before the visit.</a:t>
            </a:r>
            <a:endParaRPr lang="en-US" sz="1400" dirty="0"/>
          </a:p>
        </p:txBody>
      </p:sp>
      <p:sp>
        <p:nvSpPr>
          <p:cNvPr id="30" name="Problem metric 4"/>
          <p:cNvSpPr txBox="1"/>
          <p:nvPr/>
        </p:nvSpPr>
        <p:spPr>
          <a:xfrm>
            <a:off x="6414516" y="4773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101M</a:t>
            </a:r>
            <a:endParaRPr lang="en-US" sz="3000" dirty="0"/>
          </a:p>
        </p:txBody>
      </p:sp>
      <p:sp>
        <p:nvSpPr>
          <p:cNvPr id="31" name="Problem metric label 4"/>
          <p:cNvSpPr txBox="1"/>
          <p:nvPr/>
        </p:nvSpPr>
        <p:spPr>
          <a:xfrm>
            <a:off x="8060436" y="4773168"/>
            <a:ext cx="34427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Indians live with diabetes, plus 136M with prediabetes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ICMR-INDIAB-17, Lancet Diabetes &amp; Endocrinology, 2023</a:t>
            </a:r>
            <a:endParaRPr lang="en-US" sz="1300" dirty="0"/>
          </a:p>
        </p:txBody>
      </p:sp>
      <p:sp>
        <p:nvSpPr>
          <p:cNvPr id="32" name="Consequence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Consequence text"/>
          <p:cNvSpPr txBox="1"/>
          <p:nvPr/>
        </p:nvSpPr>
        <p:spPr>
          <a:xfrm>
            <a:off x="685800" y="5696712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CONSEQUENCE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Doctors consult on an incomplete, unverified picture, and the whole burden falls on a two-minute visit, across 101 million people with diabetes.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GlycoBrief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Every diabetes patient, verified and ready before the consult</a:t>
            </a:r>
            <a:endParaRPr lang="en-US" sz="1600" dirty="0"/>
          </a:p>
        </p:txBody>
      </p:sp>
      <p:sp>
        <p:nvSpPr>
          <p:cNvPr id="4" name="Label THE PROBLEM"/>
          <p:cNvSpPr txBox="1"/>
          <p:nvPr/>
        </p:nvSpPr>
        <p:spPr>
          <a:xfrm>
            <a:off x="457200" y="1325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Label OUR SOLUTION"/>
          <p:cNvSpPr txBox="1"/>
          <p:nvPr/>
        </p:nvSpPr>
        <p:spPr>
          <a:xfrm>
            <a:off x="4572000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6" name="Label PROOF IN THE MVP"/>
          <p:cNvSpPr txBox="1"/>
          <p:nvPr/>
        </p:nvSpPr>
        <p:spPr>
          <a:xfrm>
            <a:off x="9464040" y="1325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PROOF IN THE MVP</a:t>
            </a:r>
            <a:endParaRPr lang="en-US" sz="1100" dirty="0"/>
          </a:p>
        </p:txBody>
      </p:sp>
      <p:sp>
        <p:nvSpPr>
          <p:cNvPr id="7" name="Solution problem card 1"/>
          <p:cNvSpPr/>
          <p:nvPr/>
        </p:nvSpPr>
        <p:spPr>
          <a:xfrm>
            <a:off x="457200" y="162763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olution problem 1 circle"/>
          <p:cNvSpPr/>
          <p:nvPr/>
        </p:nvSpPr>
        <p:spPr>
          <a:xfrm>
            <a:off x="621792" y="181965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Solution 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47672"/>
            <a:ext cx="256032" cy="256032"/>
          </a:xfrm>
          <a:prstGeom prst="rect">
            <a:avLst/>
          </a:prstGeom>
        </p:spPr>
      </p:pic>
      <p:sp>
        <p:nvSpPr>
          <p:cNvPr id="10" name="Solution problem text 1"/>
          <p:cNvSpPr txBox="1"/>
          <p:nvPr/>
        </p:nvSpPr>
        <p:spPr>
          <a:xfrm>
            <a:off x="1280160" y="170078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Conflicting, unverified records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72% of patients had a medication-list error</a:t>
            </a:r>
            <a:endParaRPr lang="en-US" sz="1500" dirty="0"/>
          </a:p>
        </p:txBody>
      </p:sp>
      <p:pic>
        <p:nvPicPr>
          <p:cNvPr id="11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911096"/>
            <a:ext cx="329184" cy="329184"/>
          </a:xfrm>
          <a:prstGeom prst="rect">
            <a:avLst/>
          </a:prstGeom>
        </p:spPr>
      </p:pic>
      <p:sp>
        <p:nvSpPr>
          <p:cNvPr id="12" name="Solution card 1"/>
          <p:cNvSpPr/>
          <p:nvPr/>
        </p:nvSpPr>
        <p:spPr>
          <a:xfrm>
            <a:off x="4572000" y="162763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olution text 1"/>
          <p:cNvSpPr txBox="1"/>
          <p:nvPr/>
        </p:nvSpPr>
        <p:spPr>
          <a:xfrm>
            <a:off x="4800600" y="170078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clinical team verifies every report; each value is locked to its source document and reviewer</a:t>
            </a:r>
            <a:endParaRPr lang="en-US" sz="1500" dirty="0"/>
          </a:p>
        </p:txBody>
      </p:sp>
      <p:sp>
        <p:nvSpPr>
          <p:cNvPr id="14" name="Proof pill 1"/>
          <p:cNvSpPr/>
          <p:nvPr/>
        </p:nvSpPr>
        <p:spPr>
          <a:xfrm>
            <a:off x="9464040" y="162763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roof text 1"/>
          <p:cNvSpPr txBox="1"/>
          <p:nvPr/>
        </p:nvSpPr>
        <p:spPr>
          <a:xfrm>
            <a:off x="9601200" y="170078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Source-locked values</a:t>
            </a:r>
            <a:endParaRPr lang="en-US" sz="1400" dirty="0"/>
          </a:p>
        </p:txBody>
      </p:sp>
      <p:sp>
        <p:nvSpPr>
          <p:cNvPr id="16" name="Solution problem card 2"/>
          <p:cNvSpPr/>
          <p:nvPr/>
        </p:nvSpPr>
        <p:spPr>
          <a:xfrm>
            <a:off x="457200" y="263347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olution problem 2 circle"/>
          <p:cNvSpPr/>
          <p:nvPr/>
        </p:nvSpPr>
        <p:spPr>
          <a:xfrm>
            <a:off x="621792" y="282549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Solution problem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53512"/>
            <a:ext cx="256032" cy="256032"/>
          </a:xfrm>
          <a:prstGeom prst="rect">
            <a:avLst/>
          </a:prstGeom>
        </p:spPr>
      </p:pic>
      <p:sp>
        <p:nvSpPr>
          <p:cNvPr id="19" name="Solution problem text 2"/>
          <p:cNvSpPr txBox="1"/>
          <p:nvPr/>
        </p:nvSpPr>
        <p:spPr>
          <a:xfrm>
            <a:off x="1280160" y="270662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chart reconstruction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About 2-minute consultations in India</a:t>
            </a:r>
            <a:endParaRPr lang="en-US" sz="1500" dirty="0"/>
          </a:p>
        </p:txBody>
      </p:sp>
      <p:pic>
        <p:nvPicPr>
          <p:cNvPr id="20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2916936"/>
            <a:ext cx="329184" cy="329184"/>
          </a:xfrm>
          <a:prstGeom prst="rect">
            <a:avLst/>
          </a:prstGeom>
        </p:spPr>
      </p:pic>
      <p:sp>
        <p:nvSpPr>
          <p:cNvPr id="21" name="Solution card 2"/>
          <p:cNvSpPr/>
          <p:nvPr/>
        </p:nvSpPr>
        <p:spPr>
          <a:xfrm>
            <a:off x="4572000" y="263347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Solution text 2"/>
          <p:cNvSpPr txBox="1"/>
          <p:nvPr/>
        </p:nvSpPr>
        <p:spPr>
          <a:xfrm>
            <a:off x="4800600" y="270662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one-page verified brief reaches the doctor before the patient walks in</a:t>
            </a:r>
            <a:endParaRPr lang="en-US" sz="1500" dirty="0"/>
          </a:p>
        </p:txBody>
      </p:sp>
      <p:sp>
        <p:nvSpPr>
          <p:cNvPr id="23" name="Proof pill 2"/>
          <p:cNvSpPr/>
          <p:nvPr/>
        </p:nvSpPr>
        <p:spPr>
          <a:xfrm>
            <a:off x="9464040" y="263347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roof text 2"/>
          <p:cNvSpPr txBox="1"/>
          <p:nvPr/>
        </p:nvSpPr>
        <p:spPr>
          <a:xfrm>
            <a:off x="9601200" y="270662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Consultation Brief</a:t>
            </a:r>
            <a:endParaRPr lang="en-US" sz="1400" dirty="0"/>
          </a:p>
        </p:txBody>
      </p:sp>
      <p:sp>
        <p:nvSpPr>
          <p:cNvPr id="25" name="Solution problem card 3"/>
          <p:cNvSpPr/>
          <p:nvPr/>
        </p:nvSpPr>
        <p:spPr>
          <a:xfrm>
            <a:off x="457200" y="363931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Solution problem 3 circle"/>
          <p:cNvSpPr/>
          <p:nvPr/>
        </p:nvSpPr>
        <p:spPr>
          <a:xfrm>
            <a:off x="621792" y="383133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Solution problem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59352"/>
            <a:ext cx="256032" cy="256032"/>
          </a:xfrm>
          <a:prstGeom prst="rect">
            <a:avLst/>
          </a:prstGeom>
        </p:spPr>
      </p:pic>
      <p:sp>
        <p:nvSpPr>
          <p:cNvPr id="28" name="Solution problem text 3"/>
          <p:cNvSpPr txBox="1"/>
          <p:nvPr/>
        </p:nvSpPr>
        <p:spPr>
          <a:xfrm>
            <a:off x="1280160" y="371246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Deterioration nobody notices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to 6 months between HbA1c checks</a:t>
            </a:r>
            <a:endParaRPr lang="en-US" sz="1500" dirty="0"/>
          </a:p>
        </p:txBody>
      </p:sp>
      <p:pic>
        <p:nvPicPr>
          <p:cNvPr id="29" name="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088" y="3922776"/>
            <a:ext cx="329184" cy="329184"/>
          </a:xfrm>
          <a:prstGeom prst="rect">
            <a:avLst/>
          </a:prstGeom>
        </p:spPr>
      </p:pic>
      <p:sp>
        <p:nvSpPr>
          <p:cNvPr id="30" name="Solution card 3"/>
          <p:cNvSpPr/>
          <p:nvPr/>
        </p:nvSpPr>
        <p:spPr>
          <a:xfrm>
            <a:off x="4572000" y="363931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olution text 3"/>
          <p:cNvSpPr txBox="1"/>
          <p:nvPr/>
        </p:nvSpPr>
        <p:spPr>
          <a:xfrm>
            <a:off x="4800600" y="371246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Seven rule checks raise an early, explained “quietly getting worse” flag between visits</a:t>
            </a:r>
            <a:endParaRPr lang="en-US" sz="1500" dirty="0"/>
          </a:p>
        </p:txBody>
      </p:sp>
      <p:sp>
        <p:nvSpPr>
          <p:cNvPr id="32" name="Proof pill 3"/>
          <p:cNvSpPr/>
          <p:nvPr/>
        </p:nvSpPr>
        <p:spPr>
          <a:xfrm>
            <a:off x="9464040" y="363931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Proof text 3"/>
          <p:cNvSpPr txBox="1"/>
          <p:nvPr/>
        </p:nvSpPr>
        <p:spPr>
          <a:xfrm>
            <a:off x="9601200" y="371246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Silent Risk Detector</a:t>
            </a:r>
            <a:endParaRPr lang="en-US" sz="1400" dirty="0"/>
          </a:p>
        </p:txBody>
      </p:sp>
      <p:sp>
        <p:nvSpPr>
          <p:cNvPr id="34" name="Solution problem card 4"/>
          <p:cNvSpPr/>
          <p:nvPr/>
        </p:nvSpPr>
        <p:spPr>
          <a:xfrm>
            <a:off x="457200" y="4645152"/>
            <a:ext cx="35661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Solution problem 4 circle"/>
          <p:cNvSpPr/>
          <p:nvPr/>
        </p:nvSpPr>
        <p:spPr>
          <a:xfrm>
            <a:off x="621792" y="4837176"/>
            <a:ext cx="512064" cy="51206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6" name="Solution problem 4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965192"/>
            <a:ext cx="256032" cy="256032"/>
          </a:xfrm>
          <a:prstGeom prst="rect">
            <a:avLst/>
          </a:prstGeom>
        </p:spPr>
      </p:pic>
      <p:sp>
        <p:nvSpPr>
          <p:cNvPr id="37" name="Solution problem text 4"/>
          <p:cNvSpPr txBox="1"/>
          <p:nvPr/>
        </p:nvSpPr>
        <p:spPr>
          <a:xfrm>
            <a:off x="1280160" y="4718304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 many patients to track alone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101 million Indians live with diabetes</a:t>
            </a:r>
            <a:endParaRPr lang="en-US" sz="1500" dirty="0"/>
          </a:p>
        </p:txBody>
      </p:sp>
      <p:pic>
        <p:nvPicPr>
          <p:cNvPr id="38" name="Arrow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088" y="4928616"/>
            <a:ext cx="329184" cy="329184"/>
          </a:xfrm>
          <a:prstGeom prst="rect">
            <a:avLst/>
          </a:prstGeom>
        </p:spPr>
      </p:pic>
      <p:sp>
        <p:nvSpPr>
          <p:cNvPr id="39" name="Solution card 4"/>
          <p:cNvSpPr/>
          <p:nvPr/>
        </p:nvSpPr>
        <p:spPr>
          <a:xfrm>
            <a:off x="4572000" y="4645152"/>
            <a:ext cx="475488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Solution text 4"/>
          <p:cNvSpPr txBox="1"/>
          <p:nvPr/>
        </p:nvSpPr>
        <p:spPr>
          <a:xfrm>
            <a:off x="4800600" y="4718304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team orders tests before the visit, checks readiness and hands off through a doctor queue</a:t>
            </a:r>
            <a:endParaRPr lang="en-US" sz="1500" dirty="0"/>
          </a:p>
        </p:txBody>
      </p:sp>
      <p:sp>
        <p:nvSpPr>
          <p:cNvPr id="41" name="Proof pill 4"/>
          <p:cNvSpPr/>
          <p:nvPr/>
        </p:nvSpPr>
        <p:spPr>
          <a:xfrm>
            <a:off x="9464040" y="4645152"/>
            <a:ext cx="2267712" cy="896112"/>
          </a:xfrm>
          <a:prstGeom prst="roundRect">
            <a:avLst>
              <a:gd name="adj" fmla="val 81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Proof text 4"/>
          <p:cNvSpPr txBox="1"/>
          <p:nvPr/>
        </p:nvSpPr>
        <p:spPr>
          <a:xfrm>
            <a:off x="9601200" y="471830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Orders + Doctor Queue</a:t>
            </a:r>
            <a:endParaRPr lang="en-US" sz="1400" dirty="0"/>
          </a:p>
        </p:txBody>
      </p:sp>
      <p:sp>
        <p:nvSpPr>
          <p:cNvPr id="43" name="Footer card"/>
          <p:cNvSpPr/>
          <p:nvPr/>
        </p:nvSpPr>
        <p:spPr>
          <a:xfrm>
            <a:off x="457200" y="566928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What's next"/>
          <p:cNvSpPr txBox="1"/>
          <p:nvPr/>
        </p:nvSpPr>
        <p:spPr>
          <a:xfrm>
            <a:off x="685800" y="574243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WHAT'S NEXT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report reading  ·  Real ABDM integration  ·  Learns from doctor feedback  ·  Type 1 support</a:t>
            </a:r>
            <a:endParaRPr lang="en-US" sz="1100" dirty="0"/>
          </a:p>
        </p:txBody>
      </p:sp>
      <p:sp>
        <p:nvSpPr>
          <p:cNvPr id="45" name="Built with"/>
          <p:cNvSpPr txBox="1"/>
          <p:nvPr/>
        </p:nvSpPr>
        <p:spPr>
          <a:xfrm>
            <a:off x="685800" y="605332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BUILT WITH 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React  ·  FastAPI  ·  SQLite  ·  FHIR R4  ·  Simulated ABDM (ABHA consent)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Only clinician-verified data reaches the doctor's brief</a:t>
            </a:r>
            <a:endParaRPr lang="en-US" sz="1600" dirty="0"/>
          </a:p>
        </p:txBody>
      </p:sp>
      <p:sp>
        <p:nvSpPr>
          <p:cNvPr id="4" name="Flow hospital"/>
          <p:cNvSpPr/>
          <p:nvPr/>
        </p:nvSpPr>
        <p:spPr>
          <a:xfrm>
            <a:off x="868680" y="1371600"/>
            <a:ext cx="343814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Flow hospital circle"/>
          <p:cNvSpPr/>
          <p:nvPr/>
        </p:nvSpPr>
        <p:spPr>
          <a:xfrm>
            <a:off x="1033272" y="15316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Flow hospit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1645920"/>
            <a:ext cx="228600" cy="228600"/>
          </a:xfrm>
          <a:prstGeom prst="rect">
            <a:avLst/>
          </a:prstGeom>
        </p:spPr>
      </p:pic>
      <p:sp>
        <p:nvSpPr>
          <p:cNvPr id="7" name="Flow hospital text"/>
          <p:cNvSpPr txBox="1"/>
          <p:nvPr/>
        </p:nvSpPr>
        <p:spPr>
          <a:xfrm>
            <a:off x="1618488" y="1426464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Hospital records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Clinic lab results, visits, prescriptions</a:t>
            </a:r>
            <a:endParaRPr lang="en-US" sz="1500" dirty="0"/>
          </a:p>
        </p:txBody>
      </p:sp>
      <p:sp>
        <p:nvSpPr>
          <p:cNvPr id="8" name="Flow uploads"/>
          <p:cNvSpPr/>
          <p:nvPr/>
        </p:nvSpPr>
        <p:spPr>
          <a:xfrm>
            <a:off x="4581144" y="1371600"/>
            <a:ext cx="343814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Flow uploads circle"/>
          <p:cNvSpPr/>
          <p:nvPr/>
        </p:nvSpPr>
        <p:spPr>
          <a:xfrm>
            <a:off x="4745736" y="15316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Flow upload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1645920"/>
            <a:ext cx="228600" cy="228600"/>
          </a:xfrm>
          <a:prstGeom prst="rect">
            <a:avLst/>
          </a:prstGeom>
        </p:spPr>
      </p:pic>
      <p:sp>
        <p:nvSpPr>
          <p:cNvPr id="11" name="Flow uploads text"/>
          <p:cNvSpPr txBox="1"/>
          <p:nvPr/>
        </p:nvSpPr>
        <p:spPr>
          <a:xfrm>
            <a:off x="5330952" y="1426464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Patient app uploads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Reports, bills, meter photos, readings</a:t>
            </a:r>
            <a:endParaRPr lang="en-US" sz="1500" dirty="0"/>
          </a:p>
        </p:txBody>
      </p:sp>
      <p:sp>
        <p:nvSpPr>
          <p:cNvPr id="12" name="Flow ABHA"/>
          <p:cNvSpPr/>
          <p:nvPr/>
        </p:nvSpPr>
        <p:spPr>
          <a:xfrm>
            <a:off x="8293608" y="1371600"/>
            <a:ext cx="343814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Flow ABHA circle"/>
          <p:cNvSpPr/>
          <p:nvPr/>
        </p:nvSpPr>
        <p:spPr>
          <a:xfrm>
            <a:off x="8458200" y="15316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Flow ABH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645920"/>
            <a:ext cx="228600" cy="228600"/>
          </a:xfrm>
          <a:prstGeom prst="rect">
            <a:avLst/>
          </a:prstGeom>
        </p:spPr>
      </p:pic>
      <p:sp>
        <p:nvSpPr>
          <p:cNvPr id="15" name="Flow ABHA text"/>
          <p:cNvSpPr txBox="1"/>
          <p:nvPr/>
        </p:nvSpPr>
        <p:spPr>
          <a:xfrm>
            <a:off x="9043416" y="1426464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Other hospital via ABHA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Shared only after patient consent</a:t>
            </a:r>
            <a:endParaRPr lang="en-US" sz="1500" dirty="0"/>
          </a:p>
        </p:txBody>
      </p:sp>
      <p:pic>
        <p:nvPicPr>
          <p:cNvPr id="16" name="Flow arrow A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2185416"/>
            <a:ext cx="274320" cy="274320"/>
          </a:xfrm>
          <a:prstGeom prst="rect">
            <a:avLst/>
          </a:prstGeom>
        </p:spPr>
      </p:pic>
      <p:pic>
        <p:nvPicPr>
          <p:cNvPr id="17" name="Flow arrow A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185416"/>
            <a:ext cx="274320" cy="274320"/>
          </a:xfrm>
          <a:prstGeom prst="rect">
            <a:avLst/>
          </a:prstGeom>
        </p:spPr>
      </p:pic>
      <p:pic>
        <p:nvPicPr>
          <p:cNvPr id="18" name="Flow arrow A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2185416"/>
            <a:ext cx="274320" cy="274320"/>
          </a:xfrm>
          <a:prstGeom prst="rect">
            <a:avLst/>
          </a:prstGeom>
        </p:spPr>
      </p:pic>
      <p:sp>
        <p:nvSpPr>
          <p:cNvPr id="19" name="Flow verify"/>
          <p:cNvSpPr/>
          <p:nvPr/>
        </p:nvSpPr>
        <p:spPr>
          <a:xfrm>
            <a:off x="868680" y="2514600"/>
            <a:ext cx="10863072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low verify circle"/>
          <p:cNvSpPr/>
          <p:nvPr/>
        </p:nvSpPr>
        <p:spPr>
          <a:xfrm>
            <a:off x="1033272" y="26746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Flow verify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572" y="2788920"/>
            <a:ext cx="228600" cy="228600"/>
          </a:xfrm>
          <a:prstGeom prst="rect">
            <a:avLst/>
          </a:prstGeom>
        </p:spPr>
      </p:pic>
      <p:sp>
        <p:nvSpPr>
          <p:cNvPr id="22" name="Flow verify text"/>
          <p:cNvSpPr txBox="1"/>
          <p:nvPr/>
        </p:nvSpPr>
        <p:spPr>
          <a:xfrm>
            <a:off x="1618488" y="2569464"/>
            <a:ext cx="9948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Clinical team verifies every report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 or reject; each value is saved with its document and reviewer. Unverified items stay labelled.</a:t>
            </a:r>
            <a:endParaRPr lang="en-US" sz="1500" dirty="0"/>
          </a:p>
        </p:txBody>
      </p:sp>
      <p:pic>
        <p:nvPicPr>
          <p:cNvPr id="23" name="Flow arrow B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8708" y="3328416"/>
            <a:ext cx="274320" cy="274320"/>
          </a:xfrm>
          <a:prstGeom prst="rect">
            <a:avLst/>
          </a:prstGeom>
        </p:spPr>
      </p:pic>
      <p:pic>
        <p:nvPicPr>
          <p:cNvPr id="24" name="Flow arrow B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7404" y="3328416"/>
            <a:ext cx="274320" cy="274320"/>
          </a:xfrm>
          <a:prstGeom prst="rect">
            <a:avLst/>
          </a:prstGeom>
        </p:spPr>
      </p:pic>
      <p:sp>
        <p:nvSpPr>
          <p:cNvPr id="25" name="Flow detector"/>
          <p:cNvSpPr/>
          <p:nvPr/>
        </p:nvSpPr>
        <p:spPr>
          <a:xfrm>
            <a:off x="868680" y="3611880"/>
            <a:ext cx="5294376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Flow detector circle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Flow detector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7572" y="3886200"/>
            <a:ext cx="228600" cy="228600"/>
          </a:xfrm>
          <a:prstGeom prst="rect">
            <a:avLst/>
          </a:prstGeom>
        </p:spPr>
      </p:pic>
      <p:sp>
        <p:nvSpPr>
          <p:cNvPr id="28" name="Flow detector text"/>
          <p:cNvSpPr txBox="1"/>
          <p:nvPr/>
        </p:nvSpPr>
        <p:spPr>
          <a:xfrm>
            <a:off x="1618488" y="3666744"/>
            <a:ext cx="4379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Silent Risk Detector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Seven rule checks set priority; every flag shows its reason</a:t>
            </a:r>
            <a:endParaRPr lang="en-US" sz="1500" dirty="0"/>
          </a:p>
        </p:txBody>
      </p:sp>
      <p:sp>
        <p:nvSpPr>
          <p:cNvPr id="29" name="Flow brief"/>
          <p:cNvSpPr/>
          <p:nvPr/>
        </p:nvSpPr>
        <p:spPr>
          <a:xfrm>
            <a:off x="6437376" y="3611880"/>
            <a:ext cx="5294376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Flow brief circle"/>
          <p:cNvSpPr/>
          <p:nvPr/>
        </p:nvSpPr>
        <p:spPr>
          <a:xfrm>
            <a:off x="6601968" y="37719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Flow brief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6268" y="3886200"/>
            <a:ext cx="228600" cy="228600"/>
          </a:xfrm>
          <a:prstGeom prst="rect">
            <a:avLst/>
          </a:prstGeom>
        </p:spPr>
      </p:pic>
      <p:sp>
        <p:nvSpPr>
          <p:cNvPr id="32" name="Flow brief text"/>
          <p:cNvSpPr txBox="1"/>
          <p:nvPr/>
        </p:nvSpPr>
        <p:spPr>
          <a:xfrm>
            <a:off x="7187184" y="3666744"/>
            <a:ext cx="4379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Consultation Brief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Team drafts, edits and sends one page; sent versions are frozen</a:t>
            </a:r>
            <a:endParaRPr lang="en-US" sz="1500" dirty="0"/>
          </a:p>
        </p:txBody>
      </p:sp>
      <p:pic>
        <p:nvPicPr>
          <p:cNvPr id="33" name="Flow arrow C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3056" y="3863340"/>
            <a:ext cx="274320" cy="274320"/>
          </a:xfrm>
          <a:prstGeom prst="rect">
            <a:avLst/>
          </a:prstGeom>
        </p:spPr>
      </p:pic>
      <p:pic>
        <p:nvPicPr>
          <p:cNvPr id="34" name="Flow arrow D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5520" y="4425696"/>
            <a:ext cx="274320" cy="274320"/>
          </a:xfrm>
          <a:prstGeom prst="rect">
            <a:avLst/>
          </a:prstGeom>
        </p:spPr>
      </p:pic>
      <p:sp>
        <p:nvSpPr>
          <p:cNvPr id="35" name="Flow tests"/>
          <p:cNvSpPr/>
          <p:nvPr/>
        </p:nvSpPr>
        <p:spPr>
          <a:xfrm>
            <a:off x="868680" y="4754880"/>
            <a:ext cx="343814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Flow tests circle"/>
          <p:cNvSpPr/>
          <p:nvPr/>
        </p:nvSpPr>
        <p:spPr>
          <a:xfrm>
            <a:off x="1033272" y="49149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7" name="Flow tests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7572" y="5029200"/>
            <a:ext cx="228600" cy="228600"/>
          </a:xfrm>
          <a:prstGeom prst="rect">
            <a:avLst/>
          </a:prstGeom>
        </p:spPr>
      </p:pic>
      <p:sp>
        <p:nvSpPr>
          <p:cNvPr id="38" name="Flow tests text"/>
          <p:cNvSpPr txBox="1"/>
          <p:nvPr/>
        </p:nvSpPr>
        <p:spPr>
          <a:xfrm>
            <a:off x="1618488" y="4809744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Tests for next visit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Due dates, reminders, auto lab results</a:t>
            </a:r>
            <a:endParaRPr lang="en-US" sz="1500" dirty="0"/>
          </a:p>
        </p:txBody>
      </p:sp>
      <p:sp>
        <p:nvSpPr>
          <p:cNvPr id="39" name="Flow consult"/>
          <p:cNvSpPr/>
          <p:nvPr/>
        </p:nvSpPr>
        <p:spPr>
          <a:xfrm>
            <a:off x="4581144" y="4754880"/>
            <a:ext cx="343814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Flow consult circle"/>
          <p:cNvSpPr/>
          <p:nvPr/>
        </p:nvSpPr>
        <p:spPr>
          <a:xfrm>
            <a:off x="4745736" y="49149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1" name="Flow consult 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60036" y="5029200"/>
            <a:ext cx="228600" cy="228600"/>
          </a:xfrm>
          <a:prstGeom prst="rect">
            <a:avLst/>
          </a:prstGeom>
        </p:spPr>
      </p:pic>
      <p:sp>
        <p:nvSpPr>
          <p:cNvPr id="42" name="Flow consult text"/>
          <p:cNvSpPr txBox="1"/>
          <p:nvPr/>
        </p:nvSpPr>
        <p:spPr>
          <a:xfrm>
            <a:off x="5330952" y="4809744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Consultation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Decisions on verified numbers and trends</a:t>
            </a:r>
            <a:endParaRPr lang="en-US" sz="1500" dirty="0"/>
          </a:p>
        </p:txBody>
      </p:sp>
      <p:sp>
        <p:nvSpPr>
          <p:cNvPr id="43" name="Flow identity"/>
          <p:cNvSpPr/>
          <p:nvPr/>
        </p:nvSpPr>
        <p:spPr>
          <a:xfrm>
            <a:off x="8293608" y="4754880"/>
            <a:ext cx="3438144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Flow identity circle"/>
          <p:cNvSpPr/>
          <p:nvPr/>
        </p:nvSpPr>
        <p:spPr>
          <a:xfrm>
            <a:off x="8458200" y="49149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5" name="Flow identity 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0" y="5029200"/>
            <a:ext cx="228600" cy="228600"/>
          </a:xfrm>
          <a:prstGeom prst="rect">
            <a:avLst/>
          </a:prstGeom>
        </p:spPr>
      </p:pic>
      <p:sp>
        <p:nvSpPr>
          <p:cNvPr id="46" name="Flow identity text"/>
          <p:cNvSpPr txBox="1"/>
          <p:nvPr/>
        </p:nvSpPr>
        <p:spPr>
          <a:xfrm>
            <a:off x="9043416" y="4809744"/>
            <a:ext cx="2523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Doctor confirms identity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Two identifiers before the brief opens</a:t>
            </a:r>
            <a:endParaRPr lang="en-US" sz="1500" dirty="0"/>
          </a:p>
        </p:txBody>
      </p:sp>
      <p:pic>
        <p:nvPicPr>
          <p:cNvPr id="47" name="Flow arrow E1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19288" y="5006340"/>
            <a:ext cx="274320" cy="274320"/>
          </a:xfrm>
          <a:prstGeom prst="rect">
            <a:avLst/>
          </a:prstGeom>
        </p:spPr>
      </p:pic>
      <p:pic>
        <p:nvPicPr>
          <p:cNvPr id="48" name="Flow arrow E2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06824" y="5006340"/>
            <a:ext cx="274320" cy="274320"/>
          </a:xfrm>
          <a:prstGeom prst="rect">
            <a:avLst/>
          </a:prstGeom>
        </p:spPr>
      </p:pic>
      <p:sp>
        <p:nvSpPr>
          <p:cNvPr id="49" name="Loop bottom"/>
          <p:cNvSpPr/>
          <p:nvPr/>
        </p:nvSpPr>
        <p:spPr>
          <a:xfrm>
            <a:off x="566928" y="5143500"/>
            <a:ext cx="30175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0" name="Loop up"/>
          <p:cNvSpPr/>
          <p:nvPr/>
        </p:nvSpPr>
        <p:spPr>
          <a:xfrm>
            <a:off x="566928" y="1760220"/>
            <a:ext cx="0" cy="3383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1" name="Loop top"/>
          <p:cNvSpPr/>
          <p:nvPr/>
        </p:nvSpPr>
        <p:spPr>
          <a:xfrm>
            <a:off x="566928" y="1760220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pic>
        <p:nvPicPr>
          <p:cNvPr id="52" name="Loop icon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8680" y="5788152"/>
            <a:ext cx="274320" cy="274320"/>
          </a:xfrm>
          <a:prstGeom prst="rect">
            <a:avLst/>
          </a:prstGeom>
        </p:spPr>
      </p:pic>
      <p:sp>
        <p:nvSpPr>
          <p:cNvPr id="53" name="Loop note"/>
          <p:cNvSpPr txBox="1"/>
          <p:nvPr/>
        </p:nvSpPr>
        <p:spPr>
          <a:xfrm>
            <a:off x="1234440" y="57607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New results enter the record again and start the next cycle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MVP Already Does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Built and working today; no AI model makes any clinical decision</a:t>
            </a:r>
            <a:endParaRPr lang="en-US" sz="1600" dirty="0"/>
          </a:p>
        </p:txBody>
      </p:sp>
      <p:sp>
        <p:nvSpPr>
          <p:cNvPr id="4" name="Feature card 1"/>
          <p:cNvSpPr/>
          <p:nvPr/>
        </p:nvSpPr>
        <p:spPr>
          <a:xfrm>
            <a:off x="457200" y="1417320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Feature 1 circle"/>
          <p:cNvSpPr/>
          <p:nvPr/>
        </p:nvSpPr>
        <p:spPr>
          <a:xfrm>
            <a:off x="658368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732788"/>
            <a:ext cx="228600" cy="228600"/>
          </a:xfrm>
          <a:prstGeom prst="rect">
            <a:avLst/>
          </a:prstGeom>
        </p:spPr>
      </p:pic>
      <p:sp>
        <p:nvSpPr>
          <p:cNvPr id="7" name="Feature title 1"/>
          <p:cNvSpPr txBox="1"/>
          <p:nvPr/>
        </p:nvSpPr>
        <p:spPr>
          <a:xfrm>
            <a:off x="658368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Silent Risk Detector</a:t>
            </a:r>
            <a:endParaRPr lang="en-US" sz="1500" dirty="0"/>
          </a:p>
        </p:txBody>
      </p:sp>
      <p:sp>
        <p:nvSpPr>
          <p:cNvPr id="8" name="Feature text 1"/>
          <p:cNvSpPr txBox="1"/>
          <p:nvPr/>
        </p:nvSpPr>
        <p:spPr>
          <a:xfrm>
            <a:off x="658368" y="2478024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Two hard signs, or two or more soft signs, flag a patient; every flag shows its dates and numbers.</a:t>
            </a:r>
            <a:endParaRPr lang="en-US" sz="1200" dirty="0"/>
          </a:p>
        </p:txBody>
      </p:sp>
      <p:sp>
        <p:nvSpPr>
          <p:cNvPr id="9" name="Feature card 2"/>
          <p:cNvSpPr/>
          <p:nvPr/>
        </p:nvSpPr>
        <p:spPr>
          <a:xfrm>
            <a:off x="3332988" y="1417320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Feature 2 circle"/>
          <p:cNvSpPr/>
          <p:nvPr/>
        </p:nvSpPr>
        <p:spPr>
          <a:xfrm>
            <a:off x="3534156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732788"/>
            <a:ext cx="228600" cy="228600"/>
          </a:xfrm>
          <a:prstGeom prst="rect">
            <a:avLst/>
          </a:prstGeom>
        </p:spPr>
      </p:pic>
      <p:sp>
        <p:nvSpPr>
          <p:cNvPr id="12" name="Feature title 2"/>
          <p:cNvSpPr txBox="1"/>
          <p:nvPr/>
        </p:nvSpPr>
        <p:spPr>
          <a:xfrm>
            <a:off x="3534156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Consultation Brief</a:t>
            </a:r>
            <a:endParaRPr lang="en-US" sz="1500" dirty="0"/>
          </a:p>
        </p:txBody>
      </p:sp>
      <p:sp>
        <p:nvSpPr>
          <p:cNvPr id="13" name="Feature text 2"/>
          <p:cNvSpPr txBox="1"/>
          <p:nvPr/>
        </p:nvSpPr>
        <p:spPr>
          <a:xfrm>
            <a:off x="3534156" y="2478024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team drafts, edits and sends one page; the doctor opens it after a two-identifier check.</a:t>
            </a:r>
            <a:endParaRPr lang="en-US" sz="1200" dirty="0"/>
          </a:p>
        </p:txBody>
      </p:sp>
      <p:sp>
        <p:nvSpPr>
          <p:cNvPr id="14" name="Feature card 3"/>
          <p:cNvSpPr/>
          <p:nvPr/>
        </p:nvSpPr>
        <p:spPr>
          <a:xfrm>
            <a:off x="6208776" y="1417320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Feature 3 circle"/>
          <p:cNvSpPr/>
          <p:nvPr/>
        </p:nvSpPr>
        <p:spPr>
          <a:xfrm>
            <a:off x="6409944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1732788"/>
            <a:ext cx="228600" cy="228600"/>
          </a:xfrm>
          <a:prstGeom prst="rect">
            <a:avLst/>
          </a:prstGeom>
        </p:spPr>
      </p:pic>
      <p:sp>
        <p:nvSpPr>
          <p:cNvPr id="17" name="Feature title 3"/>
          <p:cNvSpPr txBox="1"/>
          <p:nvPr/>
        </p:nvSpPr>
        <p:spPr>
          <a:xfrm>
            <a:off x="6409944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Since last visit</a:t>
            </a:r>
            <a:endParaRPr lang="en-US" sz="1500" dirty="0"/>
          </a:p>
        </p:txBody>
      </p:sp>
      <p:sp>
        <p:nvSpPr>
          <p:cNvPr id="18" name="Feature text 3"/>
          <p:cNvSpPr txBox="1"/>
          <p:nvPr/>
        </p:nvSpPr>
        <p:spPr>
          <a:xfrm>
            <a:off x="6409944" y="2478024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Compares today with the snapshot saved when the last consultation closed.</a:t>
            </a:r>
            <a:endParaRPr lang="en-US" sz="1200" dirty="0"/>
          </a:p>
        </p:txBody>
      </p:sp>
      <p:sp>
        <p:nvSpPr>
          <p:cNvPr id="19" name="Feature card 4"/>
          <p:cNvSpPr/>
          <p:nvPr/>
        </p:nvSpPr>
        <p:spPr>
          <a:xfrm>
            <a:off x="9084564" y="1417320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Feature 4 circle"/>
          <p:cNvSpPr/>
          <p:nvPr/>
        </p:nvSpPr>
        <p:spPr>
          <a:xfrm>
            <a:off x="9285732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732788"/>
            <a:ext cx="228600" cy="228600"/>
          </a:xfrm>
          <a:prstGeom prst="rect">
            <a:avLst/>
          </a:prstGeom>
        </p:spPr>
      </p:pic>
      <p:sp>
        <p:nvSpPr>
          <p:cNvPr id="22" name="Feature title 4"/>
          <p:cNvSpPr txBox="1"/>
          <p:nvPr/>
        </p:nvSpPr>
        <p:spPr>
          <a:xfrm>
            <a:off x="9285732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Source-locked values</a:t>
            </a:r>
            <a:endParaRPr lang="en-US" sz="1500" dirty="0"/>
          </a:p>
        </p:txBody>
      </p:sp>
      <p:sp>
        <p:nvSpPr>
          <p:cNvPr id="23" name="Feature text 4"/>
          <p:cNvSpPr txBox="1"/>
          <p:nvPr/>
        </p:nvSpPr>
        <p:spPr>
          <a:xfrm>
            <a:off x="9285732" y="2478024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Database rules make a value without its report and reviewer impossible, even through raw SQL.</a:t>
            </a:r>
            <a:endParaRPr lang="en-US" sz="1200" dirty="0"/>
          </a:p>
        </p:txBody>
      </p:sp>
      <p:sp>
        <p:nvSpPr>
          <p:cNvPr id="24" name="Feature card 5"/>
          <p:cNvSpPr/>
          <p:nvPr/>
        </p:nvSpPr>
        <p:spPr>
          <a:xfrm>
            <a:off x="457200" y="3447288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eature 5 circle"/>
          <p:cNvSpPr/>
          <p:nvPr/>
        </p:nvSpPr>
        <p:spPr>
          <a:xfrm>
            <a:off x="658368" y="364845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762756"/>
            <a:ext cx="228600" cy="228600"/>
          </a:xfrm>
          <a:prstGeom prst="rect">
            <a:avLst/>
          </a:prstGeom>
        </p:spPr>
      </p:pic>
      <p:sp>
        <p:nvSpPr>
          <p:cNvPr id="27" name="Feature title 5"/>
          <p:cNvSpPr txBox="1"/>
          <p:nvPr/>
        </p:nvSpPr>
        <p:spPr>
          <a:xfrm>
            <a:off x="658368" y="419709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Honest lab ranges</a:t>
            </a:r>
            <a:endParaRPr lang="en-US" sz="1500" dirty="0"/>
          </a:p>
        </p:txBody>
      </p:sp>
      <p:sp>
        <p:nvSpPr>
          <p:cNvPr id="28" name="Feature text 5"/>
          <p:cNvSpPr txBox="1"/>
          <p:nvPr/>
        </p:nvSpPr>
        <p:spPr>
          <a:xfrm>
            <a:off x="658368" y="4507992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result is judged against its own lab's printed range; HbA1c shown in ADA stages.</a:t>
            </a:r>
            <a:endParaRPr lang="en-US" sz="1200" dirty="0"/>
          </a:p>
        </p:txBody>
      </p:sp>
      <p:sp>
        <p:nvSpPr>
          <p:cNvPr id="29" name="Feature card 6"/>
          <p:cNvSpPr/>
          <p:nvPr/>
        </p:nvSpPr>
        <p:spPr>
          <a:xfrm>
            <a:off x="3332988" y="3447288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Feature 6 circle"/>
          <p:cNvSpPr/>
          <p:nvPr/>
        </p:nvSpPr>
        <p:spPr>
          <a:xfrm>
            <a:off x="3534156" y="364845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3762756"/>
            <a:ext cx="228600" cy="228600"/>
          </a:xfrm>
          <a:prstGeom prst="rect">
            <a:avLst/>
          </a:prstGeom>
        </p:spPr>
      </p:pic>
      <p:sp>
        <p:nvSpPr>
          <p:cNvPr id="32" name="Feature title 6"/>
          <p:cNvSpPr txBox="1"/>
          <p:nvPr/>
        </p:nvSpPr>
        <p:spPr>
          <a:xfrm>
            <a:off x="3534156" y="419709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Pending reports inbox</a:t>
            </a:r>
            <a:endParaRPr lang="en-US" sz="1500" dirty="0"/>
          </a:p>
        </p:txBody>
      </p:sp>
      <p:sp>
        <p:nvSpPr>
          <p:cNvPr id="33" name="Feature text 6"/>
          <p:cNvSpPr txBox="1"/>
          <p:nvPr/>
        </p:nvSpPr>
        <p:spPr>
          <a:xfrm>
            <a:off x="3534156" y="4507992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queue for reports, bills, meter photos, prescriptions and readings, oldest first.</a:t>
            </a:r>
            <a:endParaRPr lang="en-US" sz="1200" dirty="0"/>
          </a:p>
        </p:txBody>
      </p:sp>
      <p:sp>
        <p:nvSpPr>
          <p:cNvPr id="34" name="Feature card 7"/>
          <p:cNvSpPr/>
          <p:nvPr/>
        </p:nvSpPr>
        <p:spPr>
          <a:xfrm>
            <a:off x="6208776" y="3447288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Feature 7 circle"/>
          <p:cNvSpPr/>
          <p:nvPr/>
        </p:nvSpPr>
        <p:spPr>
          <a:xfrm>
            <a:off x="6409944" y="364845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6" name="Feature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3762756"/>
            <a:ext cx="228600" cy="228600"/>
          </a:xfrm>
          <a:prstGeom prst="rect">
            <a:avLst/>
          </a:prstGeom>
        </p:spPr>
      </p:pic>
      <p:sp>
        <p:nvSpPr>
          <p:cNvPr id="37" name="Feature title 7"/>
          <p:cNvSpPr txBox="1"/>
          <p:nvPr/>
        </p:nvSpPr>
        <p:spPr>
          <a:xfrm>
            <a:off x="6409944" y="419709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Medicine bill check</a:t>
            </a:r>
            <a:endParaRPr lang="en-US" sz="1500" dirty="0"/>
          </a:p>
        </p:txBody>
      </p:sp>
      <p:sp>
        <p:nvSpPr>
          <p:cNvPr id="38" name="Feature text 7"/>
          <p:cNvSpPr txBox="1"/>
          <p:nvPr/>
        </p:nvSpPr>
        <p:spPr>
          <a:xfrm>
            <a:off x="6409944" y="4507992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refill counts only after the care team approves the pharmacy bill.</a:t>
            </a:r>
            <a:endParaRPr lang="en-US" sz="1200" dirty="0"/>
          </a:p>
        </p:txBody>
      </p:sp>
      <p:sp>
        <p:nvSpPr>
          <p:cNvPr id="39" name="Feature card 8"/>
          <p:cNvSpPr/>
          <p:nvPr/>
        </p:nvSpPr>
        <p:spPr>
          <a:xfrm>
            <a:off x="9084564" y="3447288"/>
            <a:ext cx="2647188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Feature 8 circle"/>
          <p:cNvSpPr/>
          <p:nvPr/>
        </p:nvSpPr>
        <p:spPr>
          <a:xfrm>
            <a:off x="9285732" y="364845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1" name="Feature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3762756"/>
            <a:ext cx="228600" cy="228600"/>
          </a:xfrm>
          <a:prstGeom prst="rect">
            <a:avLst/>
          </a:prstGeom>
        </p:spPr>
      </p:pic>
      <p:sp>
        <p:nvSpPr>
          <p:cNvPr id="42" name="Feature title 8"/>
          <p:cNvSpPr txBox="1"/>
          <p:nvPr/>
        </p:nvSpPr>
        <p:spPr>
          <a:xfrm>
            <a:off x="9285732" y="419709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Orders</a:t>
            </a:r>
            <a:endParaRPr lang="en-US" sz="1500" dirty="0"/>
          </a:p>
        </p:txBody>
      </p:sp>
      <p:sp>
        <p:nvSpPr>
          <p:cNvPr id="43" name="Feature text 8"/>
          <p:cNvSpPr txBox="1"/>
          <p:nvPr/>
        </p:nvSpPr>
        <p:spPr>
          <a:xfrm>
            <a:off x="9285732" y="4507992"/>
            <a:ext cx="22448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Due dates before the visit, reminders at 7, 3 and 1 day, and clinic-lab results filed automatically.</a:t>
            </a:r>
            <a:endParaRPr lang="en-US" sz="1200" dirty="0"/>
          </a:p>
        </p:txBody>
      </p:sp>
      <p:sp>
        <p:nvSpPr>
          <p:cNvPr id="44" name="Also built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Also built text"/>
          <p:cNvSpPr txBox="1"/>
          <p:nvPr/>
        </p:nvSpPr>
        <p:spPr>
          <a:xfrm>
            <a:off x="685800" y="5696712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ALSO BUILT 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Race-safe booking  ·  Doctor-unavailable flow with AM/PM check  ·  ABHA consent (simulated ABDM)  ·  FHIR R4 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Helps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The doctor decides instead of searching, and everyone else knows their next step</a:t>
            </a:r>
            <a:endParaRPr lang="en-US" sz="1600" dirty="0"/>
          </a:p>
        </p:txBody>
      </p:sp>
      <p:sp>
        <p:nvSpPr>
          <p:cNvPr id="4" name="Help card 1"/>
          <p:cNvSpPr/>
          <p:nvPr/>
        </p:nvSpPr>
        <p:spPr>
          <a:xfrm>
            <a:off x="457200" y="1417320"/>
            <a:ext cx="2647188" cy="3977640"/>
          </a:xfrm>
          <a:prstGeom prst="roundRect">
            <a:avLst>
              <a:gd name="adj" fmla="val 27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Help 1 circle"/>
          <p:cNvSpPr/>
          <p:nvPr/>
        </p:nvSpPr>
        <p:spPr>
          <a:xfrm>
            <a:off x="658368" y="161848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Hel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744218"/>
            <a:ext cx="251460" cy="251460"/>
          </a:xfrm>
          <a:prstGeom prst="rect">
            <a:avLst/>
          </a:prstGeom>
        </p:spPr>
      </p:pic>
      <p:sp>
        <p:nvSpPr>
          <p:cNvPr id="7" name="Help role 1"/>
          <p:cNvSpPr txBox="1"/>
          <p:nvPr/>
        </p:nvSpPr>
        <p:spPr>
          <a:xfrm>
            <a:off x="1280160" y="1618488"/>
            <a:ext cx="168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Doctor</a:t>
            </a:r>
            <a:endParaRPr lang="en-US" sz="1800" dirty="0"/>
          </a:p>
        </p:txBody>
      </p:sp>
      <p:sp>
        <p:nvSpPr>
          <p:cNvPr id="8" name="Label TODAY"/>
          <p:cNvSpPr txBox="1"/>
          <p:nvPr/>
        </p:nvSpPr>
        <p:spPr>
          <a:xfrm>
            <a:off x="658368" y="2331720"/>
            <a:ext cx="2244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TODAY</a:t>
            </a:r>
            <a:endParaRPr lang="en-US" sz="1100" dirty="0"/>
          </a:p>
        </p:txBody>
      </p:sp>
      <p:sp>
        <p:nvSpPr>
          <p:cNvPr id="9" name="Help today 1"/>
          <p:cNvSpPr txBox="1"/>
          <p:nvPr/>
        </p:nvSpPr>
        <p:spPr>
          <a:xfrm>
            <a:off x="658368" y="2606040"/>
            <a:ext cx="22448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Re-asks the history every visit and flips through loose reports, unsure which numbers were checked.</a:t>
            </a:r>
            <a:endParaRPr lang="en-US" sz="1300" dirty="0"/>
          </a:p>
        </p:txBody>
      </p:sp>
      <p:sp>
        <p:nvSpPr>
          <p:cNvPr id="10" name="Help with tint 1"/>
          <p:cNvSpPr/>
          <p:nvPr/>
        </p:nvSpPr>
        <p:spPr>
          <a:xfrm>
            <a:off x="566928" y="3657600"/>
            <a:ext cx="2427732" cy="1627632"/>
          </a:xfrm>
          <a:prstGeom prst="roundRect">
            <a:avLst>
              <a:gd name="adj" fmla="val 449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abel WITH GLYCOBRIEF"/>
          <p:cNvSpPr txBox="1"/>
          <p:nvPr/>
        </p:nvSpPr>
        <p:spPr>
          <a:xfrm>
            <a:off x="704088" y="3776472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WITH GLYCOBRIEF</a:t>
            </a:r>
            <a:endParaRPr lang="en-US" sz="1100" dirty="0"/>
          </a:p>
        </p:txBody>
      </p:sp>
      <p:sp>
        <p:nvSpPr>
          <p:cNvPr id="12" name="Help with 1"/>
          <p:cNvSpPr txBox="1"/>
          <p:nvPr/>
        </p:nvSpPr>
        <p:spPr>
          <a:xfrm>
            <a:off x="704088" y="4069080"/>
            <a:ext cx="215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Opens one verified page: priority, what changed, trends, pending tests and the top three alerts.</a:t>
            </a:r>
            <a:endParaRPr lang="en-US" sz="1300" dirty="0"/>
          </a:p>
        </p:txBody>
      </p:sp>
      <p:sp>
        <p:nvSpPr>
          <p:cNvPr id="13" name="Help card 2"/>
          <p:cNvSpPr/>
          <p:nvPr/>
        </p:nvSpPr>
        <p:spPr>
          <a:xfrm>
            <a:off x="3332988" y="1417320"/>
            <a:ext cx="2647188" cy="3977640"/>
          </a:xfrm>
          <a:prstGeom prst="roundRect">
            <a:avLst>
              <a:gd name="adj" fmla="val 27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Help 2 circle"/>
          <p:cNvSpPr/>
          <p:nvPr/>
        </p:nvSpPr>
        <p:spPr>
          <a:xfrm>
            <a:off x="3534156" y="161848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Hel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886" y="1744218"/>
            <a:ext cx="251460" cy="251460"/>
          </a:xfrm>
          <a:prstGeom prst="rect">
            <a:avLst/>
          </a:prstGeom>
        </p:spPr>
      </p:pic>
      <p:sp>
        <p:nvSpPr>
          <p:cNvPr id="16" name="Help role 2"/>
          <p:cNvSpPr txBox="1"/>
          <p:nvPr/>
        </p:nvSpPr>
        <p:spPr>
          <a:xfrm>
            <a:off x="4155948" y="1618488"/>
            <a:ext cx="168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Clinical team</a:t>
            </a:r>
            <a:endParaRPr lang="en-US" sz="1800" dirty="0"/>
          </a:p>
        </p:txBody>
      </p:sp>
      <p:sp>
        <p:nvSpPr>
          <p:cNvPr id="17" name="Label TODAY"/>
          <p:cNvSpPr txBox="1"/>
          <p:nvPr/>
        </p:nvSpPr>
        <p:spPr>
          <a:xfrm>
            <a:off x="3534156" y="2331720"/>
            <a:ext cx="2244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TODAY</a:t>
            </a:r>
            <a:endParaRPr lang="en-US" sz="1100" dirty="0"/>
          </a:p>
        </p:txBody>
      </p:sp>
      <p:sp>
        <p:nvSpPr>
          <p:cNvPr id="18" name="Help today 2"/>
          <p:cNvSpPr txBox="1"/>
          <p:nvPr/>
        </p:nvSpPr>
        <p:spPr>
          <a:xfrm>
            <a:off x="3534156" y="2606040"/>
            <a:ext cx="22448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Chases reports on paper and WhatsApp, with no single list of what is waiting.</a:t>
            </a:r>
            <a:endParaRPr lang="en-US" sz="1300" dirty="0"/>
          </a:p>
        </p:txBody>
      </p:sp>
      <p:sp>
        <p:nvSpPr>
          <p:cNvPr id="19" name="Help with tint 2"/>
          <p:cNvSpPr/>
          <p:nvPr/>
        </p:nvSpPr>
        <p:spPr>
          <a:xfrm>
            <a:off x="3442716" y="3657600"/>
            <a:ext cx="2427732" cy="1627632"/>
          </a:xfrm>
          <a:prstGeom prst="roundRect">
            <a:avLst>
              <a:gd name="adj" fmla="val 449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 WITH GLYCOBRIEF"/>
          <p:cNvSpPr txBox="1"/>
          <p:nvPr/>
        </p:nvSpPr>
        <p:spPr>
          <a:xfrm>
            <a:off x="3579876" y="3776472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WITH GLYCOBRIEF</a:t>
            </a:r>
            <a:endParaRPr lang="en-US" sz="1100" dirty="0"/>
          </a:p>
        </p:txBody>
      </p:sp>
      <p:sp>
        <p:nvSpPr>
          <p:cNvPr id="21" name="Help with 2"/>
          <p:cNvSpPr txBox="1"/>
          <p:nvPr/>
        </p:nvSpPr>
        <p:spPr>
          <a:xfrm>
            <a:off x="3579876" y="4069080"/>
            <a:ext cx="215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inbox for every upload, a readiness checklist, and a brief composer with live preview.</a:t>
            </a:r>
            <a:endParaRPr lang="en-US" sz="1300" dirty="0"/>
          </a:p>
        </p:txBody>
      </p:sp>
      <p:sp>
        <p:nvSpPr>
          <p:cNvPr id="22" name="Help card 3"/>
          <p:cNvSpPr/>
          <p:nvPr/>
        </p:nvSpPr>
        <p:spPr>
          <a:xfrm>
            <a:off x="6208776" y="1417320"/>
            <a:ext cx="2647188" cy="3977640"/>
          </a:xfrm>
          <a:prstGeom prst="roundRect">
            <a:avLst>
              <a:gd name="adj" fmla="val 27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Help 3 circle"/>
          <p:cNvSpPr/>
          <p:nvPr/>
        </p:nvSpPr>
        <p:spPr>
          <a:xfrm>
            <a:off x="6409944" y="161848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Hel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74" y="1744218"/>
            <a:ext cx="251460" cy="251460"/>
          </a:xfrm>
          <a:prstGeom prst="rect">
            <a:avLst/>
          </a:prstGeom>
        </p:spPr>
      </p:pic>
      <p:sp>
        <p:nvSpPr>
          <p:cNvPr id="25" name="Help role 3"/>
          <p:cNvSpPr txBox="1"/>
          <p:nvPr/>
        </p:nvSpPr>
        <p:spPr>
          <a:xfrm>
            <a:off x="7031736" y="1618488"/>
            <a:ext cx="168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Patient</a:t>
            </a:r>
            <a:endParaRPr lang="en-US" sz="1800" dirty="0"/>
          </a:p>
        </p:txBody>
      </p:sp>
      <p:sp>
        <p:nvSpPr>
          <p:cNvPr id="26" name="Label TODAY"/>
          <p:cNvSpPr txBox="1"/>
          <p:nvPr/>
        </p:nvSpPr>
        <p:spPr>
          <a:xfrm>
            <a:off x="6409944" y="2331720"/>
            <a:ext cx="2244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TODAY</a:t>
            </a:r>
            <a:endParaRPr lang="en-US" sz="1100" dirty="0"/>
          </a:p>
        </p:txBody>
      </p:sp>
      <p:sp>
        <p:nvSpPr>
          <p:cNvPr id="27" name="Help today 3"/>
          <p:cNvSpPr txBox="1"/>
          <p:nvPr/>
        </p:nvSpPr>
        <p:spPr>
          <a:xfrm>
            <a:off x="6409944" y="2606040"/>
            <a:ext cx="22448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Repeats their story each visit and doesn't know which tests to do, or by when.</a:t>
            </a:r>
            <a:endParaRPr lang="en-US" sz="1300" dirty="0"/>
          </a:p>
        </p:txBody>
      </p:sp>
      <p:sp>
        <p:nvSpPr>
          <p:cNvPr id="28" name="Help with tint 3"/>
          <p:cNvSpPr/>
          <p:nvPr/>
        </p:nvSpPr>
        <p:spPr>
          <a:xfrm>
            <a:off x="6318504" y="3657600"/>
            <a:ext cx="2427732" cy="1627632"/>
          </a:xfrm>
          <a:prstGeom prst="roundRect">
            <a:avLst>
              <a:gd name="adj" fmla="val 449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Label WITH GLYCOBRIEF"/>
          <p:cNvSpPr txBox="1"/>
          <p:nvPr/>
        </p:nvSpPr>
        <p:spPr>
          <a:xfrm>
            <a:off x="6455664" y="3776472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WITH GLYCOBRIEF</a:t>
            </a:r>
            <a:endParaRPr lang="en-US" sz="1100" dirty="0"/>
          </a:p>
        </p:txBody>
      </p:sp>
      <p:sp>
        <p:nvSpPr>
          <p:cNvPr id="30" name="Help with 3"/>
          <p:cNvSpPr txBox="1"/>
          <p:nvPr/>
        </p:nvSpPr>
        <p:spPr>
          <a:xfrm>
            <a:off x="6455664" y="4069080"/>
            <a:ext cx="215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Sees My tests with due dates, uploads reports by phone, and is told why a report was rejected.</a:t>
            </a:r>
            <a:endParaRPr lang="en-US" sz="1300" dirty="0"/>
          </a:p>
        </p:txBody>
      </p:sp>
      <p:sp>
        <p:nvSpPr>
          <p:cNvPr id="31" name="Help card 4"/>
          <p:cNvSpPr/>
          <p:nvPr/>
        </p:nvSpPr>
        <p:spPr>
          <a:xfrm>
            <a:off x="9084564" y="1417320"/>
            <a:ext cx="2647188" cy="3977640"/>
          </a:xfrm>
          <a:prstGeom prst="roundRect">
            <a:avLst>
              <a:gd name="adj" fmla="val 276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Help 4 circle"/>
          <p:cNvSpPr/>
          <p:nvPr/>
        </p:nvSpPr>
        <p:spPr>
          <a:xfrm>
            <a:off x="9285732" y="1618488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Hel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462" y="1744218"/>
            <a:ext cx="251460" cy="251460"/>
          </a:xfrm>
          <a:prstGeom prst="rect">
            <a:avLst/>
          </a:prstGeom>
        </p:spPr>
      </p:pic>
      <p:sp>
        <p:nvSpPr>
          <p:cNvPr id="34" name="Help role 4"/>
          <p:cNvSpPr txBox="1"/>
          <p:nvPr/>
        </p:nvSpPr>
        <p:spPr>
          <a:xfrm>
            <a:off x="9907524" y="1618488"/>
            <a:ext cx="1687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Clinic</a:t>
            </a:r>
            <a:endParaRPr lang="en-US" sz="1800" dirty="0"/>
          </a:p>
        </p:txBody>
      </p:sp>
      <p:sp>
        <p:nvSpPr>
          <p:cNvPr id="35" name="Label TODAY"/>
          <p:cNvSpPr txBox="1"/>
          <p:nvPr/>
        </p:nvSpPr>
        <p:spPr>
          <a:xfrm>
            <a:off x="9285732" y="2331720"/>
            <a:ext cx="2244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TODAY</a:t>
            </a:r>
            <a:endParaRPr lang="en-US" sz="1100" dirty="0"/>
          </a:p>
        </p:txBody>
      </p:sp>
      <p:sp>
        <p:nvSpPr>
          <p:cNvPr id="36" name="Help today 4"/>
          <p:cNvSpPr txBox="1"/>
          <p:nvPr/>
        </p:nvSpPr>
        <p:spPr>
          <a:xfrm>
            <a:off x="9285732" y="2606040"/>
            <a:ext cx="22448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Patients who worsen between visits are noticed late; schedule changes cause confusion.</a:t>
            </a:r>
            <a:endParaRPr lang="en-US" sz="1300" dirty="0"/>
          </a:p>
        </p:txBody>
      </p:sp>
      <p:sp>
        <p:nvSpPr>
          <p:cNvPr id="37" name="Help with tint 4"/>
          <p:cNvSpPr/>
          <p:nvPr/>
        </p:nvSpPr>
        <p:spPr>
          <a:xfrm>
            <a:off x="9194292" y="3657600"/>
            <a:ext cx="2427732" cy="1627632"/>
          </a:xfrm>
          <a:prstGeom prst="roundRect">
            <a:avLst>
              <a:gd name="adj" fmla="val 449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Label WITH GLYCOBRIEF"/>
          <p:cNvSpPr txBox="1"/>
          <p:nvPr/>
        </p:nvSpPr>
        <p:spPr>
          <a:xfrm>
            <a:off x="9331452" y="3776472"/>
            <a:ext cx="2153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WITH GLYCOBRIEF</a:t>
            </a:r>
            <a:endParaRPr lang="en-US" sz="1100" dirty="0"/>
          </a:p>
        </p:txBody>
      </p:sp>
      <p:sp>
        <p:nvSpPr>
          <p:cNvPr id="39" name="Help with 4"/>
          <p:cNvSpPr txBox="1"/>
          <p:nvPr/>
        </p:nvSpPr>
        <p:spPr>
          <a:xfrm>
            <a:off x="9331452" y="4069080"/>
            <a:ext cx="215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Early, explained warnings, race-safe booking, and clean rescheduling when a doctor is away.</a:t>
            </a:r>
            <a:endParaRPr lang="en-US" sz="1300" dirty="0"/>
          </a:p>
        </p:txBody>
      </p:sp>
      <p:sp>
        <p:nvSpPr>
          <p:cNvPr id="40" name="Safety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Safety text"/>
          <p:cNvSpPr txBox="1"/>
          <p:nvPr/>
        </p:nvSpPr>
        <p:spPr>
          <a:xfrm>
            <a:off x="685800" y="5696712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SAFETY 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Identity confirmed before every brief  ·  Unverified data always labelled  ·  Every action audited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Lightweight and open source, with safety rules enforced by the database itself</a:t>
            </a:r>
            <a:endParaRPr lang="en-US" sz="1600" dirty="0"/>
          </a:p>
        </p:txBody>
      </p:sp>
      <p:sp>
        <p:nvSpPr>
          <p:cNvPr id="4" name="Label LAYER"/>
          <p:cNvSpPr txBox="1"/>
          <p:nvPr/>
        </p:nvSpPr>
        <p:spPr>
          <a:xfrm>
            <a:off x="45720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LAYER</a:t>
            </a:r>
            <a:endParaRPr lang="en-US" sz="1100" dirty="0"/>
          </a:p>
        </p:txBody>
      </p:sp>
      <p:sp>
        <p:nvSpPr>
          <p:cNvPr id="5" name="Label TECHNOLOGY"/>
          <p:cNvSpPr txBox="1"/>
          <p:nvPr/>
        </p:nvSpPr>
        <p:spPr>
          <a:xfrm>
            <a:off x="278892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6" name="Label WHY"/>
          <p:cNvSpPr txBox="1"/>
          <p:nvPr/>
        </p:nvSpPr>
        <p:spPr>
          <a:xfrm>
            <a:off x="758952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WHY</a:t>
            </a:r>
            <a:endParaRPr lang="en-US" sz="1100" dirty="0"/>
          </a:p>
        </p:txBody>
      </p:sp>
      <p:sp>
        <p:nvSpPr>
          <p:cNvPr id="7" name="Layer pill 1"/>
          <p:cNvSpPr/>
          <p:nvPr/>
        </p:nvSpPr>
        <p:spPr>
          <a:xfrm>
            <a:off x="457200" y="1645920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" name="Laye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47088"/>
            <a:ext cx="256032" cy="256032"/>
          </a:xfrm>
          <a:prstGeom prst="rect">
            <a:avLst/>
          </a:prstGeom>
        </p:spPr>
      </p:pic>
      <p:sp>
        <p:nvSpPr>
          <p:cNvPr id="9" name="Layer name 1"/>
          <p:cNvSpPr txBox="1"/>
          <p:nvPr/>
        </p:nvSpPr>
        <p:spPr>
          <a:xfrm>
            <a:off x="1005840" y="17007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</a:t>
            </a:r>
            <a:endParaRPr lang="en-US" sz="1500" dirty="0"/>
          </a:p>
        </p:txBody>
      </p:sp>
      <p:sp>
        <p:nvSpPr>
          <p:cNvPr id="10" name="Stack row 1"/>
          <p:cNvSpPr/>
          <p:nvPr/>
        </p:nvSpPr>
        <p:spPr>
          <a:xfrm>
            <a:off x="2697480" y="1645920"/>
            <a:ext cx="903427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tack tech 1"/>
          <p:cNvSpPr txBox="1"/>
          <p:nvPr/>
        </p:nvSpPr>
        <p:spPr>
          <a:xfrm>
            <a:off x="2834640" y="1700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 19 · Vite · Tailwind CSS · React Router</a:t>
            </a:r>
            <a:endParaRPr lang="en-US" sz="1400" dirty="0"/>
          </a:p>
        </p:txBody>
      </p:sp>
      <p:sp>
        <p:nvSpPr>
          <p:cNvPr id="12" name="Stack why 1"/>
          <p:cNvSpPr txBox="1"/>
          <p:nvPr/>
        </p:nvSpPr>
        <p:spPr>
          <a:xfrm>
            <a:off x="7589520" y="17007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design system for care team, doctor and patient; the patient app works on a phone</a:t>
            </a:r>
            <a:endParaRPr lang="en-US" sz="1200" dirty="0"/>
          </a:p>
        </p:txBody>
      </p:sp>
      <p:sp>
        <p:nvSpPr>
          <p:cNvPr id="13" name="Layer pill 2"/>
          <p:cNvSpPr/>
          <p:nvPr/>
        </p:nvSpPr>
        <p:spPr>
          <a:xfrm>
            <a:off x="457200" y="2414016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Laye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15184"/>
            <a:ext cx="256032" cy="256032"/>
          </a:xfrm>
          <a:prstGeom prst="rect">
            <a:avLst/>
          </a:prstGeom>
        </p:spPr>
      </p:pic>
      <p:sp>
        <p:nvSpPr>
          <p:cNvPr id="15" name="Layer name 2"/>
          <p:cNvSpPr txBox="1"/>
          <p:nvPr/>
        </p:nvSpPr>
        <p:spPr>
          <a:xfrm>
            <a:off x="100584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</a:t>
            </a:r>
            <a:endParaRPr lang="en-US" sz="1500" dirty="0"/>
          </a:p>
        </p:txBody>
      </p:sp>
      <p:sp>
        <p:nvSpPr>
          <p:cNvPr id="16" name="Stack row 2"/>
          <p:cNvSpPr/>
          <p:nvPr/>
        </p:nvSpPr>
        <p:spPr>
          <a:xfrm>
            <a:off x="2697480" y="2414016"/>
            <a:ext cx="903427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tack tech 2"/>
          <p:cNvSpPr txBox="1"/>
          <p:nvPr/>
        </p:nvSpPr>
        <p:spPr>
          <a:xfrm>
            <a:off x="283464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· FastAPI · Uvicorn</a:t>
            </a:r>
            <a:endParaRPr lang="en-US" sz="1400" dirty="0"/>
          </a:p>
        </p:txBody>
      </p:sp>
      <p:sp>
        <p:nvSpPr>
          <p:cNvPr id="18" name="Stack why 2"/>
          <p:cNvSpPr txBox="1"/>
          <p:nvPr/>
        </p:nvSpPr>
        <p:spPr>
          <a:xfrm>
            <a:off x="7589520" y="24688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Clear REST API with automatic docs; ETag caching keeps screens current</a:t>
            </a:r>
            <a:endParaRPr lang="en-US" sz="1200" dirty="0"/>
          </a:p>
        </p:txBody>
      </p:sp>
      <p:sp>
        <p:nvSpPr>
          <p:cNvPr id="19" name="Layer pill 3"/>
          <p:cNvSpPr/>
          <p:nvPr/>
        </p:nvSpPr>
        <p:spPr>
          <a:xfrm>
            <a:off x="457200" y="3182112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Layer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83280"/>
            <a:ext cx="256032" cy="256032"/>
          </a:xfrm>
          <a:prstGeom prst="rect">
            <a:avLst/>
          </a:prstGeom>
        </p:spPr>
      </p:pic>
      <p:sp>
        <p:nvSpPr>
          <p:cNvPr id="21" name="Layer name 3"/>
          <p:cNvSpPr txBox="1"/>
          <p:nvPr/>
        </p:nvSpPr>
        <p:spPr>
          <a:xfrm>
            <a:off x="1005840" y="32369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Database</a:t>
            </a:r>
            <a:endParaRPr lang="en-US" sz="1500" dirty="0"/>
          </a:p>
        </p:txBody>
      </p:sp>
      <p:sp>
        <p:nvSpPr>
          <p:cNvPr id="22" name="Stack row 3"/>
          <p:cNvSpPr/>
          <p:nvPr/>
        </p:nvSpPr>
        <p:spPr>
          <a:xfrm>
            <a:off x="2697480" y="3182112"/>
            <a:ext cx="903427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Stack tech 3"/>
          <p:cNvSpPr txBox="1"/>
          <p:nvPr/>
        </p:nvSpPr>
        <p:spPr>
          <a:xfrm>
            <a:off x="2834640" y="32369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SQLite · versioned SQL migrations · triggers and CHECK rules</a:t>
            </a:r>
            <a:endParaRPr lang="en-US" sz="1400" dirty="0"/>
          </a:p>
        </p:txBody>
      </p:sp>
      <p:sp>
        <p:nvSpPr>
          <p:cNvPr id="24" name="Stack why 3"/>
          <p:cNvSpPr txBox="1"/>
          <p:nvPr/>
        </p:nvSpPr>
        <p:spPr>
          <a:xfrm>
            <a:off x="7589520" y="323697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Safety rules live in the database; plain SQL, ready to move to PostgreSQL</a:t>
            </a:r>
            <a:endParaRPr lang="en-US" sz="1200" dirty="0"/>
          </a:p>
        </p:txBody>
      </p:sp>
      <p:sp>
        <p:nvSpPr>
          <p:cNvPr id="25" name="Layer pill 4"/>
          <p:cNvSpPr/>
          <p:nvPr/>
        </p:nvSpPr>
        <p:spPr>
          <a:xfrm>
            <a:off x="457200" y="3950208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Layer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51376"/>
            <a:ext cx="256032" cy="256032"/>
          </a:xfrm>
          <a:prstGeom prst="rect">
            <a:avLst/>
          </a:prstGeom>
        </p:spPr>
      </p:pic>
      <p:sp>
        <p:nvSpPr>
          <p:cNvPr id="27" name="Layer name 4"/>
          <p:cNvSpPr txBox="1"/>
          <p:nvPr/>
        </p:nvSpPr>
        <p:spPr>
          <a:xfrm>
            <a:off x="1005840" y="40050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Security</a:t>
            </a:r>
            <a:endParaRPr lang="en-US" sz="1500" dirty="0"/>
          </a:p>
        </p:txBody>
      </p:sp>
      <p:sp>
        <p:nvSpPr>
          <p:cNvPr id="28" name="Stack row 4"/>
          <p:cNvSpPr/>
          <p:nvPr/>
        </p:nvSpPr>
        <p:spPr>
          <a:xfrm>
            <a:off x="2697480" y="3950208"/>
            <a:ext cx="903427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Stack tech 4"/>
          <p:cNvSpPr txBox="1"/>
          <p:nvPr/>
        </p:nvSpPr>
        <p:spPr>
          <a:xfrm>
            <a:off x="2834640" y="4005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scrypt hashes · HttpOnly sessions · care-team access checks · signed file links · audit log</a:t>
            </a:r>
            <a:endParaRPr lang="en-US" sz="1400" dirty="0"/>
          </a:p>
        </p:txBody>
      </p:sp>
      <p:sp>
        <p:nvSpPr>
          <p:cNvPr id="30" name="Stack why 4"/>
          <p:cNvSpPr txBox="1"/>
          <p:nvPr/>
        </p:nvSpPr>
        <p:spPr>
          <a:xfrm>
            <a:off x="7589520" y="40050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clinician sees only their patients; every view and change is recorded</a:t>
            </a:r>
            <a:endParaRPr lang="en-US" sz="1200" dirty="0"/>
          </a:p>
        </p:txBody>
      </p:sp>
      <p:sp>
        <p:nvSpPr>
          <p:cNvPr id="31" name="Layer pill 5"/>
          <p:cNvSpPr/>
          <p:nvPr/>
        </p:nvSpPr>
        <p:spPr>
          <a:xfrm>
            <a:off x="457200" y="4718304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2" name="Layer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919472"/>
            <a:ext cx="256032" cy="256032"/>
          </a:xfrm>
          <a:prstGeom prst="rect">
            <a:avLst/>
          </a:prstGeom>
        </p:spPr>
      </p:pic>
      <p:sp>
        <p:nvSpPr>
          <p:cNvPr id="33" name="Layer name 5"/>
          <p:cNvSpPr txBox="1"/>
          <p:nvPr/>
        </p:nvSpPr>
        <p:spPr>
          <a:xfrm>
            <a:off x="1005840" y="47731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Interoperability</a:t>
            </a:r>
            <a:endParaRPr lang="en-US" sz="1500" dirty="0"/>
          </a:p>
        </p:txBody>
      </p:sp>
      <p:sp>
        <p:nvSpPr>
          <p:cNvPr id="34" name="Stack row 5"/>
          <p:cNvSpPr/>
          <p:nvPr/>
        </p:nvSpPr>
        <p:spPr>
          <a:xfrm>
            <a:off x="2697480" y="4718304"/>
            <a:ext cx="9034272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Stack tech 5"/>
          <p:cNvSpPr txBox="1"/>
          <p:nvPr/>
        </p:nvSpPr>
        <p:spPr>
          <a:xfrm>
            <a:off x="2834640" y="4773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FHIR R4 · ABHA consent through a simulated ABDM gateway</a:t>
            </a:r>
            <a:endParaRPr lang="en-US" sz="1400" dirty="0"/>
          </a:p>
        </p:txBody>
      </p:sp>
      <p:sp>
        <p:nvSpPr>
          <p:cNvPr id="36" name="Stack why 5"/>
          <p:cNvSpPr txBox="1"/>
          <p:nvPr/>
        </p:nvSpPr>
        <p:spPr>
          <a:xfrm>
            <a:off x="7589520" y="47731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Ready for India's digital health network once real access is granted</a:t>
            </a:r>
            <a:endParaRPr lang="en-US" sz="1200" dirty="0"/>
          </a:p>
        </p:txBody>
      </p:sp>
      <p:sp>
        <p:nvSpPr>
          <p:cNvPr id="37" name="Quality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Quality text"/>
          <p:cNvSpPr txBox="1"/>
          <p:nvPr/>
        </p:nvSpPr>
        <p:spPr>
          <a:xfrm>
            <a:off x="685800" y="5696712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QUALITY  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239 automated tests  ·  Every clinical threshold in one config file  ·  No AI model in clinical decisions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 Are Different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Others help during the visit or at home; we prepare the visit before it starts</a:t>
            </a:r>
            <a:endParaRPr lang="en-US" sz="1600" dirty="0"/>
          </a:p>
        </p:txBody>
      </p:sp>
      <p:sp>
        <p:nvSpPr>
          <p:cNvPr id="4" name="Label EXISTING SOLUTION"/>
          <p:cNvSpPr txBox="1"/>
          <p:nvPr/>
        </p:nvSpPr>
        <p:spPr>
          <a:xfrm>
            <a:off x="45720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EXISTING SOLUTION</a:t>
            </a:r>
            <a:endParaRPr lang="en-US" sz="1100" dirty="0"/>
          </a:p>
        </p:txBody>
      </p:sp>
      <p:sp>
        <p:nvSpPr>
          <p:cNvPr id="5" name="Label WHAT IT DOES WELL"/>
          <p:cNvSpPr txBox="1"/>
          <p:nvPr/>
        </p:nvSpPr>
        <p:spPr>
          <a:xfrm>
            <a:off x="2834640" y="1325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2"/>
                </a:solidFill>
              </a:rPr>
              <a:t>WHAT IT DOES WELL</a:t>
            </a:r>
            <a:endParaRPr lang="en-US" sz="1100" dirty="0"/>
          </a:p>
        </p:txBody>
      </p:sp>
      <p:sp>
        <p:nvSpPr>
          <p:cNvPr id="6" name="Label HOW GLYCOBRIEF DIFFERS"/>
          <p:cNvSpPr txBox="1"/>
          <p:nvPr/>
        </p:nvSpPr>
        <p:spPr>
          <a:xfrm>
            <a:off x="7315200" y="1325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HOW GLYCOBRIEF DIFFERS</a:t>
            </a:r>
            <a:endParaRPr lang="en-US" sz="1100" dirty="0"/>
          </a:p>
        </p:txBody>
      </p:sp>
      <p:sp>
        <p:nvSpPr>
          <p:cNvPr id="7" name="Competitor 1"/>
          <p:cNvSpPr/>
          <p:nvPr/>
        </p:nvSpPr>
        <p:spPr>
          <a:xfrm>
            <a:off x="457200" y="164592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mpetitor name 1"/>
          <p:cNvSpPr txBox="1"/>
          <p:nvPr/>
        </p:nvSpPr>
        <p:spPr>
          <a:xfrm>
            <a:off x="621792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Navina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USA</a:t>
            </a:r>
            <a:endParaRPr lang="en-US" sz="1500" dirty="0"/>
          </a:p>
        </p:txBody>
      </p:sp>
      <p:sp>
        <p:nvSpPr>
          <p:cNvPr id="9" name="Competitor strength card 1"/>
          <p:cNvSpPr/>
          <p:nvPr/>
        </p:nvSpPr>
        <p:spPr>
          <a:xfrm>
            <a:off x="2788920" y="164592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ompetitor strength 1"/>
          <p:cNvSpPr txBox="1"/>
          <p:nvPr/>
        </p:nvSpPr>
        <p:spPr>
          <a:xfrm>
            <a:off x="2926080" y="16824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chart summaries from EHRs, health exchanges and claims for US primary care</a:t>
            </a:r>
            <a:endParaRPr lang="en-US" sz="1200" dirty="0"/>
          </a:p>
        </p:txBody>
      </p:sp>
      <p:sp>
        <p:nvSpPr>
          <p:cNvPr id="11" name="Difference card 1"/>
          <p:cNvSpPr/>
          <p:nvPr/>
        </p:nvSpPr>
        <p:spPr>
          <a:xfrm>
            <a:off x="7315200" y="1645920"/>
            <a:ext cx="4416552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Difference 1"/>
          <p:cNvSpPr txBox="1"/>
          <p:nvPr/>
        </p:nvSpPr>
        <p:spPr>
          <a:xfrm>
            <a:off x="7452360" y="16824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Built for Indian clinics, where reports arrive as photos and PDFs and must be verified first</a:t>
            </a:r>
            <a:endParaRPr lang="en-US" sz="1200" dirty="0"/>
          </a:p>
        </p:txBody>
      </p:sp>
      <p:sp>
        <p:nvSpPr>
          <p:cNvPr id="13" name="Competitor 2"/>
          <p:cNvSpPr/>
          <p:nvPr/>
        </p:nvSpPr>
        <p:spPr>
          <a:xfrm>
            <a:off x="457200" y="22860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Competitor name 2"/>
          <p:cNvSpPr txBox="1"/>
          <p:nvPr/>
        </p:nvSpPr>
        <p:spPr>
          <a:xfrm>
            <a:off x="621792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Abridge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USA</a:t>
            </a:r>
            <a:endParaRPr lang="en-US" sz="1500" dirty="0"/>
          </a:p>
        </p:txBody>
      </p:sp>
      <p:sp>
        <p:nvSpPr>
          <p:cNvPr id="15" name="Competitor strength card 2"/>
          <p:cNvSpPr/>
          <p:nvPr/>
        </p:nvSpPr>
        <p:spPr>
          <a:xfrm>
            <a:off x="2788920" y="228600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ompetitor strength 2"/>
          <p:cNvSpPr txBox="1"/>
          <p:nvPr/>
        </p:nvSpPr>
        <p:spPr>
          <a:xfrm>
            <a:off x="2926080" y="232257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notes during the visit; pulls prior history from hospital records</a:t>
            </a:r>
            <a:endParaRPr lang="en-US" sz="1200" dirty="0"/>
          </a:p>
        </p:txBody>
      </p:sp>
      <p:sp>
        <p:nvSpPr>
          <p:cNvPr id="17" name="Difference card 2"/>
          <p:cNvSpPr/>
          <p:nvPr/>
        </p:nvSpPr>
        <p:spPr>
          <a:xfrm>
            <a:off x="7315200" y="2286000"/>
            <a:ext cx="4416552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Difference 2"/>
          <p:cNvSpPr txBox="1"/>
          <p:nvPr/>
        </p:nvSpPr>
        <p:spPr>
          <a:xfrm>
            <a:off x="7452360" y="23225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 verify outside data and flag risk; no AI writes clinical content</a:t>
            </a:r>
            <a:endParaRPr lang="en-US" sz="1200" dirty="0"/>
          </a:p>
        </p:txBody>
      </p:sp>
      <p:sp>
        <p:nvSpPr>
          <p:cNvPr id="19" name="Competitor 3"/>
          <p:cNvSpPr/>
          <p:nvPr/>
        </p:nvSpPr>
        <p:spPr>
          <a:xfrm>
            <a:off x="457200" y="292608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Competitor name 3"/>
          <p:cNvSpPr txBox="1"/>
          <p:nvPr/>
        </p:nvSpPr>
        <p:spPr>
          <a:xfrm>
            <a:off x="621792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Eka Care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India</a:t>
            </a:r>
            <a:endParaRPr lang="en-US" sz="1500" dirty="0"/>
          </a:p>
        </p:txBody>
      </p:sp>
      <p:sp>
        <p:nvSpPr>
          <p:cNvPr id="21" name="Competitor strength card 3"/>
          <p:cNvSpPr/>
          <p:nvPr/>
        </p:nvSpPr>
        <p:spPr>
          <a:xfrm>
            <a:off x="2788920" y="292608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Competitor strength 3"/>
          <p:cNvSpPr txBox="1"/>
          <p:nvPr/>
        </p:nvSpPr>
        <p:spPr>
          <a:xfrm>
            <a:off x="2926080" y="296265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EMR, digital prescriptions, AI summaries, ABDM/ABHA support; 25,000+ doctors</a:t>
            </a:r>
            <a:endParaRPr lang="en-US" sz="1200" dirty="0"/>
          </a:p>
        </p:txBody>
      </p:sp>
      <p:sp>
        <p:nvSpPr>
          <p:cNvPr id="23" name="Difference card 3"/>
          <p:cNvSpPr/>
          <p:nvPr/>
        </p:nvSpPr>
        <p:spPr>
          <a:xfrm>
            <a:off x="7315200" y="2926080"/>
            <a:ext cx="4416552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Difference 3"/>
          <p:cNvSpPr txBox="1"/>
          <p:nvPr/>
        </p:nvSpPr>
        <p:spPr>
          <a:xfrm>
            <a:off x="7452360" y="29626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Adds a clinical-team review and brief step, plus risk warnings between visits</a:t>
            </a:r>
            <a:endParaRPr lang="en-US" sz="1200" dirty="0"/>
          </a:p>
        </p:txBody>
      </p:sp>
      <p:sp>
        <p:nvSpPr>
          <p:cNvPr id="25" name="Competitor 4"/>
          <p:cNvSpPr/>
          <p:nvPr/>
        </p:nvSpPr>
        <p:spPr>
          <a:xfrm>
            <a:off x="457200" y="356616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Competitor name 4"/>
          <p:cNvSpPr txBox="1"/>
          <p:nvPr/>
        </p:nvSpPr>
        <p:spPr>
          <a:xfrm>
            <a:off x="621792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HealthPlix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India</a:t>
            </a:r>
            <a:endParaRPr lang="en-US" sz="1500" dirty="0"/>
          </a:p>
        </p:txBody>
      </p:sp>
      <p:sp>
        <p:nvSpPr>
          <p:cNvPr id="27" name="Competitor strength card 4"/>
          <p:cNvSpPr/>
          <p:nvPr/>
        </p:nvSpPr>
        <p:spPr>
          <a:xfrm>
            <a:off x="2788920" y="356616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Competitor strength 4"/>
          <p:cNvSpPr txBox="1"/>
          <p:nvPr/>
        </p:nvSpPr>
        <p:spPr>
          <a:xfrm>
            <a:off x="2926080" y="360273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Fast digital prescriptions in 16 specialties and 14 languages; 14,000+ doctors</a:t>
            </a:r>
            <a:endParaRPr lang="en-US" sz="1200" dirty="0"/>
          </a:p>
        </p:txBody>
      </p:sp>
      <p:sp>
        <p:nvSpPr>
          <p:cNvPr id="29" name="Difference card 4"/>
          <p:cNvSpPr/>
          <p:nvPr/>
        </p:nvSpPr>
        <p:spPr>
          <a:xfrm>
            <a:off x="7315200" y="3566160"/>
            <a:ext cx="4416552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Difference 4"/>
          <p:cNvSpPr txBox="1"/>
          <p:nvPr/>
        </p:nvSpPr>
        <p:spPr>
          <a:xfrm>
            <a:off x="7452360" y="36027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 prepare the visit before it starts, and can sit alongside an EMR</a:t>
            </a:r>
            <a:endParaRPr lang="en-US" sz="1200" dirty="0"/>
          </a:p>
        </p:txBody>
      </p:sp>
      <p:sp>
        <p:nvSpPr>
          <p:cNvPr id="31" name="Competitor 5"/>
          <p:cNvSpPr/>
          <p:nvPr/>
        </p:nvSpPr>
        <p:spPr>
          <a:xfrm>
            <a:off x="457200" y="420624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Competitor name 5"/>
          <p:cNvSpPr txBox="1"/>
          <p:nvPr/>
        </p:nvSpPr>
        <p:spPr>
          <a:xfrm>
            <a:off x="621792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mySugr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Global</a:t>
            </a:r>
            <a:endParaRPr lang="en-US" sz="1500" dirty="0"/>
          </a:p>
        </p:txBody>
      </p:sp>
      <p:sp>
        <p:nvSpPr>
          <p:cNvPr id="33" name="Competitor strength card 5"/>
          <p:cNvSpPr/>
          <p:nvPr/>
        </p:nvSpPr>
        <p:spPr>
          <a:xfrm>
            <a:off x="2788920" y="420624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Competitor strength 5"/>
          <p:cNvSpPr txBox="1"/>
          <p:nvPr/>
        </p:nvSpPr>
        <p:spPr>
          <a:xfrm>
            <a:off x="2926080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Patient logbook, meter sync and shareable reports</a:t>
            </a:r>
            <a:endParaRPr lang="en-US" sz="1200" dirty="0"/>
          </a:p>
        </p:txBody>
      </p:sp>
      <p:sp>
        <p:nvSpPr>
          <p:cNvPr id="35" name="Difference card 5"/>
          <p:cNvSpPr/>
          <p:nvPr/>
        </p:nvSpPr>
        <p:spPr>
          <a:xfrm>
            <a:off x="7315200" y="4206240"/>
            <a:ext cx="4416552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Difference 5"/>
          <p:cNvSpPr txBox="1"/>
          <p:nvPr/>
        </p:nvSpPr>
        <p:spPr>
          <a:xfrm>
            <a:off x="7452360" y="424281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value is reviewed by the clinic and ranked for the doctor</a:t>
            </a:r>
            <a:endParaRPr lang="en-US" sz="1200" dirty="0"/>
          </a:p>
        </p:txBody>
      </p:sp>
      <p:sp>
        <p:nvSpPr>
          <p:cNvPr id="37" name="Competitor 6"/>
          <p:cNvSpPr/>
          <p:nvPr/>
        </p:nvSpPr>
        <p:spPr>
          <a:xfrm>
            <a:off x="457200" y="484632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Competitor name 6"/>
          <p:cNvSpPr txBox="1"/>
          <p:nvPr/>
        </p:nvSpPr>
        <p:spPr>
          <a:xfrm>
            <a:off x="621792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BeatO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India</a:t>
            </a:r>
            <a:endParaRPr lang="en-US" sz="1500" dirty="0"/>
          </a:p>
        </p:txBody>
      </p:sp>
      <p:sp>
        <p:nvSpPr>
          <p:cNvPr id="39" name="Competitor strength card 6"/>
          <p:cNvSpPr/>
          <p:nvPr/>
        </p:nvSpPr>
        <p:spPr>
          <a:xfrm>
            <a:off x="2788920" y="4846320"/>
            <a:ext cx="4389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Competitor strength 6"/>
          <p:cNvSpPr txBox="1"/>
          <p:nvPr/>
        </p:nvSpPr>
        <p:spPr>
          <a:xfrm>
            <a:off x="2926080" y="488289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Connected glucometer, coaching and online diabetologist consults</a:t>
            </a:r>
            <a:endParaRPr lang="en-US" sz="1200" dirty="0"/>
          </a:p>
        </p:txBody>
      </p:sp>
      <p:sp>
        <p:nvSpPr>
          <p:cNvPr id="41" name="Difference card 6"/>
          <p:cNvSpPr/>
          <p:nvPr/>
        </p:nvSpPr>
        <p:spPr>
          <a:xfrm>
            <a:off x="7315200" y="4846320"/>
            <a:ext cx="4416552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Difference 6"/>
          <p:cNvSpPr txBox="1"/>
          <p:nvPr/>
        </p:nvSpPr>
        <p:spPr>
          <a:xfrm>
            <a:off x="7452360" y="4882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Clinic-side, not patient-side; app data could feed our inbox later</a:t>
            </a:r>
            <a:endParaRPr lang="en-US" sz="1200" dirty="0"/>
          </a:p>
        </p:txBody>
      </p:sp>
      <p:sp>
        <p:nvSpPr>
          <p:cNvPr id="43" name="Position banner"/>
          <p:cNvSpPr/>
          <p:nvPr/>
        </p:nvSpPr>
        <p:spPr>
          <a:xfrm>
            <a:off x="457200" y="5623560"/>
            <a:ext cx="11274552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Position text"/>
          <p:cNvSpPr txBox="1"/>
          <p:nvPr/>
        </p:nvSpPr>
        <p:spPr>
          <a:xfrm>
            <a:off x="685800" y="566928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We don't replace the EMR or the AI scribe. We are the trust and readiness layer that runs before them.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What's Next</a:t>
            </a:r>
            <a:endParaRPr lang="en-US" sz="3600" dirty="0"/>
          </a:p>
        </p:txBody>
      </p:sp>
      <p:sp>
        <p:nvSpPr>
          <p:cNvPr id="3" name="Tagline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AI suggests, clinicians confirm: the future keeps the same promise</a:t>
            </a:r>
            <a:endParaRPr lang="en-US" sz="1600" dirty="0"/>
          </a:p>
        </p:txBody>
      </p:sp>
      <p:sp>
        <p:nvSpPr>
          <p:cNvPr id="4" name="Next card 1"/>
          <p:cNvSpPr/>
          <p:nvPr/>
        </p:nvSpPr>
        <p:spPr>
          <a:xfrm>
            <a:off x="457200" y="1417320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Next 1 circle"/>
          <p:cNvSpPr/>
          <p:nvPr/>
        </p:nvSpPr>
        <p:spPr>
          <a:xfrm>
            <a:off x="658368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Nex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732788"/>
            <a:ext cx="228600" cy="228600"/>
          </a:xfrm>
          <a:prstGeom prst="rect">
            <a:avLst/>
          </a:prstGeom>
        </p:spPr>
      </p:pic>
      <p:sp>
        <p:nvSpPr>
          <p:cNvPr id="7" name="Next title 1"/>
          <p:cNvSpPr txBox="1"/>
          <p:nvPr/>
        </p:nvSpPr>
        <p:spPr>
          <a:xfrm>
            <a:off x="658368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report reading</a:t>
            </a:r>
            <a:endParaRPr lang="en-US" sz="1400" dirty="0"/>
          </a:p>
        </p:txBody>
      </p:sp>
      <p:sp>
        <p:nvSpPr>
          <p:cNvPr id="8" name="Next text 1"/>
          <p:cNvSpPr txBox="1"/>
          <p:nvPr/>
        </p:nvSpPr>
        <p:spPr>
          <a:xfrm>
            <a:off x="658368" y="24780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Pre-fills values from photos and PDFs, including handwritten and regional-language reports</a:t>
            </a:r>
            <a:endParaRPr lang="en-US" sz="1200" dirty="0"/>
          </a:p>
        </p:txBody>
      </p:sp>
      <p:sp>
        <p:nvSpPr>
          <p:cNvPr id="9" name="Next guardrail 1"/>
          <p:cNvSpPr txBox="1"/>
          <p:nvPr/>
        </p:nvSpPr>
        <p:spPr>
          <a:xfrm>
            <a:off x="658368" y="3136392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 clinician confirms every value</a:t>
            </a:r>
            <a:endParaRPr lang="en-US" sz="900" dirty="0"/>
          </a:p>
        </p:txBody>
      </p:sp>
      <p:sp>
        <p:nvSpPr>
          <p:cNvPr id="10" name="Next card 2"/>
          <p:cNvSpPr/>
          <p:nvPr/>
        </p:nvSpPr>
        <p:spPr>
          <a:xfrm>
            <a:off x="3332988" y="1417320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ext 2 circle"/>
          <p:cNvSpPr/>
          <p:nvPr/>
        </p:nvSpPr>
        <p:spPr>
          <a:xfrm>
            <a:off x="3534156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Nex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732788"/>
            <a:ext cx="228600" cy="228600"/>
          </a:xfrm>
          <a:prstGeom prst="rect">
            <a:avLst/>
          </a:prstGeom>
        </p:spPr>
      </p:pic>
      <p:sp>
        <p:nvSpPr>
          <p:cNvPr id="13" name="Next title 2"/>
          <p:cNvSpPr txBox="1"/>
          <p:nvPr/>
        </p:nvSpPr>
        <p:spPr>
          <a:xfrm>
            <a:off x="3534156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Glucometer capture</a:t>
            </a:r>
            <a:endParaRPr lang="en-US" sz="1400" dirty="0"/>
          </a:p>
        </p:txBody>
      </p:sp>
      <p:sp>
        <p:nvSpPr>
          <p:cNvPr id="14" name="Next text 2"/>
          <p:cNvSpPr txBox="1"/>
          <p:nvPr/>
        </p:nvSpPr>
        <p:spPr>
          <a:xfrm>
            <a:off x="3534156" y="24780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patient films stored meter readings; we build a 90-day sugar picture</a:t>
            </a:r>
            <a:endParaRPr lang="en-US" sz="1200" dirty="0"/>
          </a:p>
        </p:txBody>
      </p:sp>
      <p:sp>
        <p:nvSpPr>
          <p:cNvPr id="15" name="Next guardrail 2"/>
          <p:cNvSpPr txBox="1"/>
          <p:nvPr/>
        </p:nvSpPr>
        <p:spPr>
          <a:xfrm>
            <a:off x="3534156" y="3136392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Unverified until reviewed</a:t>
            </a:r>
            <a:endParaRPr lang="en-US" sz="900" dirty="0"/>
          </a:p>
        </p:txBody>
      </p:sp>
      <p:sp>
        <p:nvSpPr>
          <p:cNvPr id="16" name="Next card 3"/>
          <p:cNvSpPr/>
          <p:nvPr/>
        </p:nvSpPr>
        <p:spPr>
          <a:xfrm>
            <a:off x="6208776" y="1417320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ext 3 circle"/>
          <p:cNvSpPr/>
          <p:nvPr/>
        </p:nvSpPr>
        <p:spPr>
          <a:xfrm>
            <a:off x="6409944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Nex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1732788"/>
            <a:ext cx="228600" cy="228600"/>
          </a:xfrm>
          <a:prstGeom prst="rect">
            <a:avLst/>
          </a:prstGeom>
        </p:spPr>
      </p:pic>
      <p:sp>
        <p:nvSpPr>
          <p:cNvPr id="19" name="Next title 3"/>
          <p:cNvSpPr txBox="1"/>
          <p:nvPr/>
        </p:nvSpPr>
        <p:spPr>
          <a:xfrm>
            <a:off x="6409944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Medicine conflict check</a:t>
            </a:r>
            <a:endParaRPr lang="en-US" sz="1400" dirty="0"/>
          </a:p>
        </p:txBody>
      </p:sp>
      <p:sp>
        <p:nvSpPr>
          <p:cNvPr id="20" name="Next text 3"/>
          <p:cNvSpPr txBox="1"/>
          <p:nvPr/>
        </p:nvSpPr>
        <p:spPr>
          <a:xfrm>
            <a:off x="6409944" y="24780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Finds the same drug from two doctors, or a list that no longer matches purchases</a:t>
            </a:r>
            <a:endParaRPr lang="en-US" sz="1200" dirty="0"/>
          </a:p>
        </p:txBody>
      </p:sp>
      <p:sp>
        <p:nvSpPr>
          <p:cNvPr id="21" name="Next guardrail 3"/>
          <p:cNvSpPr txBox="1"/>
          <p:nvPr/>
        </p:nvSpPr>
        <p:spPr>
          <a:xfrm>
            <a:off x="6409944" y="3136392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Facts and sources only; no dose advice</a:t>
            </a:r>
            <a:endParaRPr lang="en-US" sz="900" dirty="0"/>
          </a:p>
        </p:txBody>
      </p:sp>
      <p:sp>
        <p:nvSpPr>
          <p:cNvPr id="22" name="Next card 4"/>
          <p:cNvSpPr/>
          <p:nvPr/>
        </p:nvSpPr>
        <p:spPr>
          <a:xfrm>
            <a:off x="9084564" y="1417320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Next 4 circle"/>
          <p:cNvSpPr/>
          <p:nvPr/>
        </p:nvSpPr>
        <p:spPr>
          <a:xfrm>
            <a:off x="9285732" y="161848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Nex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732788"/>
            <a:ext cx="228600" cy="228600"/>
          </a:xfrm>
          <a:prstGeom prst="rect">
            <a:avLst/>
          </a:prstGeom>
        </p:spPr>
      </p:pic>
      <p:sp>
        <p:nvSpPr>
          <p:cNvPr id="25" name="Next title 4"/>
          <p:cNvSpPr txBox="1"/>
          <p:nvPr/>
        </p:nvSpPr>
        <p:spPr>
          <a:xfrm>
            <a:off x="9285732" y="2167128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Treatment-delay clock</a:t>
            </a:r>
            <a:endParaRPr lang="en-US" sz="1400" dirty="0"/>
          </a:p>
        </p:txBody>
      </p:sp>
      <p:sp>
        <p:nvSpPr>
          <p:cNvPr id="26" name="Next text 4"/>
          <p:cNvSpPr txBox="1"/>
          <p:nvPr/>
        </p:nvSpPr>
        <p:spPr>
          <a:xfrm>
            <a:off x="9285732" y="24780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Shows how long HbA1c stays above target without a treatment change</a:t>
            </a:r>
            <a:endParaRPr lang="en-US" sz="1200" dirty="0"/>
          </a:p>
        </p:txBody>
      </p:sp>
      <p:sp>
        <p:nvSpPr>
          <p:cNvPr id="27" name="Next guardrail 4"/>
          <p:cNvSpPr txBox="1"/>
          <p:nvPr/>
        </p:nvSpPr>
        <p:spPr>
          <a:xfrm>
            <a:off x="9285732" y="3136392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Doctor sets the target</a:t>
            </a:r>
            <a:endParaRPr lang="en-US" sz="900" dirty="0"/>
          </a:p>
        </p:txBody>
      </p:sp>
      <p:sp>
        <p:nvSpPr>
          <p:cNvPr id="28" name="Next card 5"/>
          <p:cNvSpPr/>
          <p:nvPr/>
        </p:nvSpPr>
        <p:spPr>
          <a:xfrm>
            <a:off x="457200" y="3721608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Next 5 circle"/>
          <p:cNvSpPr/>
          <p:nvPr/>
        </p:nvSpPr>
        <p:spPr>
          <a:xfrm>
            <a:off x="658368" y="392277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0" name="Nex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4037076"/>
            <a:ext cx="228600" cy="228600"/>
          </a:xfrm>
          <a:prstGeom prst="rect">
            <a:avLst/>
          </a:prstGeom>
        </p:spPr>
      </p:pic>
      <p:sp>
        <p:nvSpPr>
          <p:cNvPr id="31" name="Next title 5"/>
          <p:cNvSpPr txBox="1"/>
          <p:nvPr/>
        </p:nvSpPr>
        <p:spPr>
          <a:xfrm>
            <a:off x="658368" y="447141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ABDM connection</a:t>
            </a:r>
            <a:endParaRPr lang="en-US" sz="1400" dirty="0"/>
          </a:p>
        </p:txBody>
      </p:sp>
      <p:sp>
        <p:nvSpPr>
          <p:cNvPr id="32" name="Next text 5"/>
          <p:cNvSpPr txBox="1"/>
          <p:nvPr/>
        </p:nvSpPr>
        <p:spPr>
          <a:xfrm>
            <a:off x="658368" y="4782312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Real consent-based record exchange with other hospitals in FHIR R4</a:t>
            </a:r>
            <a:endParaRPr lang="en-US" sz="1200" dirty="0"/>
          </a:p>
        </p:txBody>
      </p:sp>
      <p:sp>
        <p:nvSpPr>
          <p:cNvPr id="33" name="Next guardrail 5"/>
          <p:cNvSpPr txBox="1"/>
          <p:nvPr/>
        </p:nvSpPr>
        <p:spPr>
          <a:xfrm>
            <a:off x="658368" y="5440680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Consent and audit for every fetch</a:t>
            </a:r>
            <a:endParaRPr lang="en-US" sz="900" dirty="0"/>
          </a:p>
        </p:txBody>
      </p:sp>
      <p:sp>
        <p:nvSpPr>
          <p:cNvPr id="34" name="Next card 6"/>
          <p:cNvSpPr/>
          <p:nvPr/>
        </p:nvSpPr>
        <p:spPr>
          <a:xfrm>
            <a:off x="3332988" y="3721608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Next 6 circle"/>
          <p:cNvSpPr/>
          <p:nvPr/>
        </p:nvSpPr>
        <p:spPr>
          <a:xfrm>
            <a:off x="3534156" y="392277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6" name="Nex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4037076"/>
            <a:ext cx="228600" cy="228600"/>
          </a:xfrm>
          <a:prstGeom prst="rect">
            <a:avLst/>
          </a:prstGeom>
        </p:spPr>
      </p:pic>
      <p:sp>
        <p:nvSpPr>
          <p:cNvPr id="37" name="Next title 6"/>
          <p:cNvSpPr txBox="1"/>
          <p:nvPr/>
        </p:nvSpPr>
        <p:spPr>
          <a:xfrm>
            <a:off x="3534156" y="447141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Pre-visit check-in</a:t>
            </a:r>
            <a:endParaRPr lang="en-US" sz="1400" dirty="0"/>
          </a:p>
        </p:txBody>
      </p:sp>
      <p:sp>
        <p:nvSpPr>
          <p:cNvPr id="38" name="Next text 6"/>
          <p:cNvSpPr txBox="1"/>
          <p:nvPr/>
        </p:nvSpPr>
        <p:spPr>
          <a:xfrm>
            <a:off x="3534156" y="4782312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WhatsApp or SMS in Indian languages: symptoms, lows and missed doses</a:t>
            </a:r>
            <a:endParaRPr lang="en-US" sz="1200" dirty="0"/>
          </a:p>
        </p:txBody>
      </p:sp>
      <p:sp>
        <p:nvSpPr>
          <p:cNvPr id="39" name="Next guardrail 6"/>
          <p:cNvSpPr txBox="1"/>
          <p:nvPr/>
        </p:nvSpPr>
        <p:spPr>
          <a:xfrm>
            <a:off x="3534156" y="5440680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Labelled “patient reported”</a:t>
            </a:r>
            <a:endParaRPr lang="en-US" sz="900" dirty="0"/>
          </a:p>
        </p:txBody>
      </p:sp>
      <p:sp>
        <p:nvSpPr>
          <p:cNvPr id="40" name="Next card 7"/>
          <p:cNvSpPr/>
          <p:nvPr/>
        </p:nvSpPr>
        <p:spPr>
          <a:xfrm>
            <a:off x="6208776" y="3721608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Next 7 circle"/>
          <p:cNvSpPr/>
          <p:nvPr/>
        </p:nvSpPr>
        <p:spPr>
          <a:xfrm>
            <a:off x="6409944" y="392277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2" name="Next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4037076"/>
            <a:ext cx="228600" cy="228600"/>
          </a:xfrm>
          <a:prstGeom prst="rect">
            <a:avLst/>
          </a:prstGeom>
        </p:spPr>
      </p:pic>
      <p:sp>
        <p:nvSpPr>
          <p:cNvPr id="43" name="Next title 7"/>
          <p:cNvSpPr txBox="1"/>
          <p:nvPr/>
        </p:nvSpPr>
        <p:spPr>
          <a:xfrm>
            <a:off x="6409944" y="4471416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Learns from doctors</a:t>
            </a:r>
            <a:endParaRPr lang="en-US" sz="1400" dirty="0"/>
          </a:p>
        </p:txBody>
      </p:sp>
      <p:sp>
        <p:nvSpPr>
          <p:cNvPr id="44" name="Next text 7"/>
          <p:cNvSpPr txBox="1"/>
          <p:nvPr/>
        </p:nvSpPr>
        <p:spPr>
          <a:xfrm>
            <a:off x="6409944" y="4782312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Doctors mark which flags helped, and rules are tuned over time</a:t>
            </a:r>
            <a:endParaRPr lang="en-US" sz="1200" dirty="0"/>
          </a:p>
        </p:txBody>
      </p:sp>
      <p:sp>
        <p:nvSpPr>
          <p:cNvPr id="45" name="Next guardrail 7"/>
          <p:cNvSpPr txBox="1"/>
          <p:nvPr/>
        </p:nvSpPr>
        <p:spPr>
          <a:xfrm>
            <a:off x="6409944" y="5440680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</a:rPr>
              <a:t>GUARDRAIL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Changes only after clinician approval</a:t>
            </a:r>
            <a:endParaRPr lang="en-US" sz="900" dirty="0"/>
          </a:p>
        </p:txBody>
      </p:sp>
      <p:sp>
        <p:nvSpPr>
          <p:cNvPr id="46" name="Rule card"/>
          <p:cNvSpPr/>
          <p:nvPr/>
        </p:nvSpPr>
        <p:spPr>
          <a:xfrm>
            <a:off x="9084564" y="3721608"/>
            <a:ext cx="2647188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Rule circle"/>
          <p:cNvSpPr/>
          <p:nvPr/>
        </p:nvSpPr>
        <p:spPr>
          <a:xfrm>
            <a:off x="9285732" y="39227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Rule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4037076"/>
            <a:ext cx="228600" cy="228600"/>
          </a:xfrm>
          <a:prstGeom prst="rect">
            <a:avLst/>
          </a:prstGeom>
        </p:spPr>
      </p:pic>
      <p:sp>
        <p:nvSpPr>
          <p:cNvPr id="49" name="Rule text"/>
          <p:cNvSpPr txBox="1"/>
          <p:nvPr/>
        </p:nvSpPr>
        <p:spPr>
          <a:xfrm>
            <a:off x="9285732" y="4498848"/>
            <a:ext cx="22448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Our rule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 AI-written numbers. Every AI suggestion is confirmed by a clinician and linked to its source.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GlycoBrief</a:t>
            </a:r>
            <a:endParaRPr lang="en-US" sz="6000" dirty="0"/>
          </a:p>
        </p:txBody>
      </p:sp>
      <p:sp>
        <p:nvSpPr>
          <p:cNvPr id="3" name="Closing line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5"/>
                </a:solidFill>
              </a:rPr>
              <a:t>Ready before the patient walks in.</a:t>
            </a:r>
            <a:endParaRPr lang="en-US" sz="2600" dirty="0"/>
          </a:p>
        </p:txBody>
      </p:sp>
      <p:sp>
        <p:nvSpPr>
          <p:cNvPr id="4" name="Pillars line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Verify</a:t>
            </a:r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Detect</a:t>
            </a:r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Brief</a:t>
            </a:r>
            <a:endParaRPr lang="en-US" sz="1800" dirty="0"/>
          </a:p>
        </p:txBody>
      </p:sp>
      <p:sp>
        <p:nvSpPr>
          <p:cNvPr id="5" name="Thanks"/>
          <p:cNvSpPr txBox="1"/>
          <p:nvPr/>
        </p:nvSpPr>
        <p:spPr>
          <a:xfrm>
            <a:off x="731520" y="5120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Thank you  ·  Live demo next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ycoBrief">
  <a:themeElements>
    <a:clrScheme name="GlycoBrief">
      <a:dk1>
        <a:srgbClr val="1B2A41"/>
      </a:dk1>
      <a:lt1>
        <a:srgbClr val="FFFFFF"/>
      </a:lt1>
      <a:dk2>
        <a:srgbClr val="5B6770"/>
      </a:dk2>
      <a:lt2>
        <a:srgbClr val="F1F3F4"/>
      </a:lt2>
      <a:accent1>
        <a:srgbClr val="2A9D8F"/>
      </a:accent1>
      <a:accent2>
        <a:srgbClr val="1B2A41"/>
      </a:accent2>
      <a:accent3>
        <a:srgbClr val="D5DADF"/>
      </a:accent3>
      <a:accent4>
        <a:srgbClr val="E9F5F3"/>
      </a:accent4>
      <a:accent5>
        <a:srgbClr val="8FD3C9"/>
      </a:accent5>
      <a:accent6>
        <a:srgbClr val="B8C1CC"/>
      </a:accent6>
      <a:hlink>
        <a:srgbClr val="2A9D8F"/>
      </a:hlink>
      <a:folHlink>
        <a:srgbClr val="5B6770"/>
      </a:folHlink>
    </a:clrScheme>
    <a:fontScheme name="GlycoBrief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GlycoBrief</dc:title>
  <dc:subject>PptxGenJS Presentation</dc:subject>
  <dc:creator>PptxGenJS</dc:creator>
  <cp:lastModifiedBy>PptxGenJS</cp:lastModifiedBy>
  <cp:revision>1</cp:revision>
  <dcterms:created xsi:type="dcterms:W3CDTF">2026-10-03T14:55:38Z</dcterms:created>
  <dcterms:modified xsi:type="dcterms:W3CDTF">2026-10-03T14:55:38Z</dcterms:modified>
</cp:coreProperties>
</file>